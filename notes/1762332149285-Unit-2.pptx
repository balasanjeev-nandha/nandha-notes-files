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2" r:id="rId36"/>
    <p:sldId id="290" r:id="rId37"/>
    <p:sldId id="291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6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D0849-BC19-4356-BFE2-6D8F2D7E90C5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2F14-BD08-49A1-8B54-9DFD48D8D1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D0849-BC19-4356-BFE2-6D8F2D7E90C5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2F14-BD08-49A1-8B54-9DFD48D8D1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D0849-BC19-4356-BFE2-6D8F2D7E90C5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2F14-BD08-49A1-8B54-9DFD48D8D1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D0849-BC19-4356-BFE2-6D8F2D7E90C5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2F14-BD08-49A1-8B54-9DFD48D8D1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D0849-BC19-4356-BFE2-6D8F2D7E90C5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2F14-BD08-49A1-8B54-9DFD48D8D1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D0849-BC19-4356-BFE2-6D8F2D7E90C5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2F14-BD08-49A1-8B54-9DFD48D8D1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D0849-BC19-4356-BFE2-6D8F2D7E90C5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2F14-BD08-49A1-8B54-9DFD48D8D1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D0849-BC19-4356-BFE2-6D8F2D7E90C5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2F14-BD08-49A1-8B54-9DFD48D8D1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D0849-BC19-4356-BFE2-6D8F2D7E90C5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2F14-BD08-49A1-8B54-9DFD48D8D1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D0849-BC19-4356-BFE2-6D8F2D7E90C5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2F14-BD08-49A1-8B54-9DFD48D8D1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D0849-BC19-4356-BFE2-6D8F2D7E90C5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2F14-BD08-49A1-8B54-9DFD48D8D1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2D0849-BC19-4356-BFE2-6D8F2D7E90C5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B2F14-BD08-49A1-8B54-9DFD48D8D1F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Unit-2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Report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sz="4000" dirty="0" smtClean="0"/>
              <a:t>A</a:t>
            </a:r>
            <a:r>
              <a:rPr lang="en-US" sz="3800" dirty="0" smtClean="0"/>
              <a:t> </a:t>
            </a:r>
            <a:r>
              <a:rPr lang="en-US" sz="5100" b="1" dirty="0" smtClean="0"/>
              <a:t>report</a:t>
            </a:r>
            <a:r>
              <a:rPr lang="en-US" sz="5100" dirty="0" smtClean="0"/>
              <a:t> is a structured way of presenting information.</a:t>
            </a:r>
          </a:p>
          <a:p>
            <a:r>
              <a:rPr lang="en-US" sz="5100" dirty="0" smtClean="0"/>
              <a:t>When it relates to business, it’s called a </a:t>
            </a:r>
            <a:r>
              <a:rPr lang="en-US" sz="5100" b="1" dirty="0" smtClean="0"/>
              <a:t>business report</a:t>
            </a:r>
            <a:r>
              <a:rPr lang="en-US" sz="5100" dirty="0" smtClean="0"/>
              <a:t>.</a:t>
            </a:r>
          </a:p>
          <a:p>
            <a:r>
              <a:rPr lang="en-US" sz="5100" b="1" dirty="0" smtClean="0"/>
              <a:t>Business reporting</a:t>
            </a:r>
            <a:r>
              <a:rPr lang="en-US" sz="5100" dirty="0" smtClean="0"/>
              <a:t> helps managers make better decisions by showing data in a clear, visual way (charts, dashboards, icons, colors).</a:t>
            </a:r>
          </a:p>
          <a:p>
            <a:r>
              <a:rPr lang="en-US" sz="5100" b="1" dirty="0" smtClean="0"/>
              <a:t>Business Performance Management (BPM)</a:t>
            </a:r>
            <a:r>
              <a:rPr lang="en-US" sz="5100" dirty="0" smtClean="0"/>
              <a:t> goes beyond reporting. It combines methods, processes, and tools to:</a:t>
            </a:r>
          </a:p>
          <a:p>
            <a:pPr lvl="2"/>
            <a:r>
              <a:rPr lang="en-US" sz="3400" dirty="0" smtClean="0"/>
              <a:t>Turn company goals into action plans.</a:t>
            </a:r>
          </a:p>
          <a:p>
            <a:pPr lvl="2"/>
            <a:r>
              <a:rPr lang="en-US" sz="3400" dirty="0" smtClean="0"/>
              <a:t>Track performance against these plans.</a:t>
            </a:r>
          </a:p>
          <a:p>
            <a:pPr lvl="2"/>
            <a:r>
              <a:rPr lang="en-US" sz="3400" dirty="0" smtClean="0"/>
              <a:t>Analyze differences between actual results and expected results.</a:t>
            </a:r>
          </a:p>
          <a:p>
            <a:pPr lvl="2"/>
            <a:r>
              <a:rPr lang="en-US" sz="3400" dirty="0" smtClean="0"/>
              <a:t>Adjust strategies based on analysis.</a:t>
            </a:r>
          </a:p>
          <a:p>
            <a:r>
              <a:rPr lang="en-US" sz="5100" dirty="0" smtClean="0"/>
              <a:t>Modern business reports evolved into </a:t>
            </a:r>
            <a:r>
              <a:rPr lang="en-US" sz="5100" b="1" dirty="0" smtClean="0"/>
              <a:t>dashboards and visual analytics</a:t>
            </a:r>
            <a:r>
              <a:rPr lang="en-US" sz="5100" dirty="0" smtClean="0"/>
              <a:t>, which don’t just describe what happened but also predict what could happen and prescribe what actions to take.</a:t>
            </a:r>
          </a:p>
          <a:p>
            <a:r>
              <a:rPr lang="en-US" sz="5100" b="1" dirty="0" smtClean="0"/>
              <a:t>BPM and visual analytics work together</a:t>
            </a:r>
            <a:r>
              <a:rPr lang="en-US" sz="5100" dirty="0" smtClean="0"/>
              <a:t>: dashboards show real-time data, and BPM ensures organizations act on that </a:t>
            </a:r>
            <a:r>
              <a:rPr lang="en-US" sz="3800" dirty="0" smtClean="0"/>
              <a:t>data to improve performance.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Imagine a Retail Company (like a chain of clothing stores):</a:t>
            </a:r>
          </a:p>
          <a:p>
            <a:r>
              <a:rPr lang="en-US" dirty="0" err="1"/>
              <a:t>Oldstyle</a:t>
            </a:r>
            <a:r>
              <a:rPr lang="en-US" dirty="0"/>
              <a:t> business report:</a:t>
            </a:r>
            <a:br>
              <a:rPr lang="en-US" dirty="0"/>
            </a:br>
            <a:r>
              <a:rPr lang="en-US" dirty="0"/>
              <a:t>A monthly PDF showing total sales, expenses, and profits.</a:t>
            </a:r>
          </a:p>
          <a:p>
            <a:r>
              <a:rPr lang="en-US" dirty="0" err="1"/>
              <a:t>Newstyle</a:t>
            </a:r>
            <a:r>
              <a:rPr lang="en-US" dirty="0"/>
              <a:t> dashboard report:</a:t>
            </a:r>
          </a:p>
          <a:p>
            <a:pPr lvl="1"/>
            <a:r>
              <a:rPr lang="en-US" dirty="0"/>
              <a:t>Live dashboard that shows:</a:t>
            </a:r>
          </a:p>
          <a:p>
            <a:pPr lvl="2"/>
            <a:r>
              <a:rPr lang="en-US" dirty="0"/>
              <a:t>Today’s sales compared to last week.</a:t>
            </a:r>
          </a:p>
          <a:p>
            <a:pPr lvl="2"/>
            <a:r>
              <a:rPr lang="en-US" dirty="0"/>
              <a:t>Which products are selling most.</a:t>
            </a:r>
          </a:p>
          <a:p>
            <a:pPr lvl="2"/>
            <a:r>
              <a:rPr lang="en-US" dirty="0"/>
              <a:t>Store-wise performance with traffic-light icons (green = good, red = poor).</a:t>
            </a:r>
          </a:p>
          <a:p>
            <a:pPr lvl="1"/>
            <a:r>
              <a:rPr lang="en-US" dirty="0"/>
              <a:t>Predicts which products will be in demand next month using past sales trends.</a:t>
            </a:r>
          </a:p>
          <a:p>
            <a:pPr lvl="1"/>
            <a:r>
              <a:rPr lang="en-US" dirty="0"/>
              <a:t>Recommends actions like offering discounts on unsold items.</a:t>
            </a:r>
          </a:p>
          <a:p>
            <a:r>
              <a:rPr lang="en-US" dirty="0"/>
              <a:t>BPM in action:</a:t>
            </a:r>
          </a:p>
          <a:p>
            <a:pPr lvl="1"/>
            <a:r>
              <a:rPr lang="en-US" dirty="0"/>
              <a:t>Strategy: "Increase online sales by 25% this quarter."</a:t>
            </a:r>
          </a:p>
          <a:p>
            <a:pPr lvl="1"/>
            <a:r>
              <a:rPr lang="en-US" dirty="0"/>
              <a:t>BPM monitors weekly sales </a:t>
            </a:r>
            <a:r>
              <a:rPr lang="en-US" dirty="0" err="1"/>
              <a:t>vs</a:t>
            </a:r>
            <a:r>
              <a:rPr lang="en-US" dirty="0"/>
              <a:t> target.</a:t>
            </a:r>
          </a:p>
          <a:p>
            <a:pPr lvl="1"/>
            <a:r>
              <a:rPr lang="en-US" dirty="0"/>
              <a:t>If sales fall behind target, it suggests actions → like boosting ads or adding discounts.</a:t>
            </a:r>
          </a:p>
          <a:p>
            <a:pPr lvl="1"/>
            <a:r>
              <a:rPr lang="en-US" dirty="0"/>
              <a:t>Managers adjust operations </a:t>
            </a:r>
            <a:r>
              <a:rPr lang="en-US" dirty="0" smtClean="0"/>
              <a:t>accordingly.</a:t>
            </a:r>
          </a:p>
          <a:p>
            <a:r>
              <a:rPr lang="en-US" dirty="0" smtClean="0"/>
              <a:t>Result</a:t>
            </a:r>
            <a:r>
              <a:rPr lang="en-US" dirty="0"/>
              <a:t>: Faster, smarter decisions → better performance.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 smtClean="0"/>
              <a:t>1. What is Business Reporting?</a:t>
            </a:r>
          </a:p>
          <a:p>
            <a:pPr>
              <a:buNone/>
            </a:pPr>
            <a:r>
              <a:rPr lang="en-US" dirty="0" smtClean="0"/>
              <a:t>👉 Business reporting means </a:t>
            </a:r>
            <a:r>
              <a:rPr lang="en-US" b="1" dirty="0" smtClean="0"/>
              <a:t>converting raw data into useful information</a:t>
            </a:r>
            <a:r>
              <a:rPr lang="en-US" dirty="0" smtClean="0"/>
              <a:t> and presenting it in reports (tables, graphs, dashboards) so that managers can take better decisions.</a:t>
            </a:r>
          </a:p>
          <a:p>
            <a:pPr>
              <a:buNone/>
            </a:pPr>
            <a:r>
              <a:rPr lang="en-US" dirty="0" smtClean="0"/>
              <a:t>📌 Example:</a:t>
            </a:r>
            <a:br>
              <a:rPr lang="en-US" dirty="0" smtClean="0"/>
            </a:br>
            <a:r>
              <a:rPr lang="en-US" dirty="0" smtClean="0"/>
              <a:t>Amazon collects millions of sales transactions daily. A </a:t>
            </a:r>
            <a:r>
              <a:rPr lang="en-US" b="1" dirty="0" smtClean="0"/>
              <a:t>business report</a:t>
            </a:r>
            <a:r>
              <a:rPr lang="en-US" dirty="0" smtClean="0"/>
              <a:t> will not just list all transactions but summarize:</a:t>
            </a:r>
          </a:p>
          <a:p>
            <a:pPr marL="747713" indent="1588">
              <a:buNone/>
            </a:pPr>
            <a:r>
              <a:rPr lang="en-US" dirty="0" smtClean="0"/>
              <a:t>“Total sales today = ₹50 </a:t>
            </a:r>
            <a:r>
              <a:rPr lang="en-US" dirty="0" err="1" smtClean="0"/>
              <a:t>crores</a:t>
            </a:r>
            <a:r>
              <a:rPr lang="en-US" dirty="0" smtClean="0"/>
              <a:t>”</a:t>
            </a:r>
          </a:p>
          <a:p>
            <a:pPr marL="747713" indent="1588">
              <a:buNone/>
            </a:pPr>
            <a:r>
              <a:rPr lang="en-US" dirty="0" smtClean="0"/>
              <a:t>“Top-selling category = Mobile Phones”</a:t>
            </a:r>
          </a:p>
          <a:p>
            <a:pPr marL="747713" indent="1588">
              <a:buNone/>
            </a:pPr>
            <a:r>
              <a:rPr lang="en-US" dirty="0" smtClean="0"/>
              <a:t>“Customer complaints = 2%”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/>
              <a:t>Types of Business Reports</a:t>
            </a:r>
          </a:p>
          <a:p>
            <a:pPr>
              <a:buNone/>
            </a:pPr>
            <a:r>
              <a:rPr lang="en-US" b="1" dirty="0" smtClean="0"/>
              <a:t>1. Informal Reports</a:t>
            </a:r>
          </a:p>
          <a:p>
            <a:pPr>
              <a:buNone/>
            </a:pPr>
            <a:r>
              <a:rPr lang="en-US" b="1" dirty="0" smtClean="0"/>
              <a:t>Definition</a:t>
            </a:r>
            <a:r>
              <a:rPr lang="en-US" dirty="0" smtClean="0"/>
              <a:t>: These are short reports, usually 1–10 pages, used for </a:t>
            </a:r>
            <a:r>
              <a:rPr lang="en-US" b="1" dirty="0" smtClean="0"/>
              <a:t>internal communication</a:t>
            </a:r>
            <a:r>
              <a:rPr lang="en-US" dirty="0" smtClean="0"/>
              <a:t> within an organization.</a:t>
            </a:r>
          </a:p>
          <a:p>
            <a:pPr>
              <a:buNone/>
            </a:pPr>
            <a:r>
              <a:rPr lang="en-US" b="1" dirty="0" smtClean="0"/>
              <a:t>Style</a:t>
            </a:r>
            <a:r>
              <a:rPr lang="en-US" dirty="0" smtClean="0"/>
              <a:t>: Written in a simple memo, letter, or email format. They do not follow a strict structure like formal reports.</a:t>
            </a:r>
          </a:p>
          <a:p>
            <a:pPr>
              <a:buNone/>
            </a:pPr>
            <a:r>
              <a:rPr lang="en-US" b="1" dirty="0" smtClean="0"/>
              <a:t>Purpose</a:t>
            </a:r>
            <a:r>
              <a:rPr lang="en-US" dirty="0" smtClean="0"/>
              <a:t>: To share quick updates, progress, or recommendations.</a:t>
            </a:r>
          </a:p>
          <a:p>
            <a:pPr>
              <a:buNone/>
            </a:pPr>
            <a:r>
              <a:rPr lang="en-US" b="1" dirty="0" smtClean="0"/>
              <a:t>Example</a:t>
            </a:r>
            <a:r>
              <a:rPr lang="en-US" dirty="0" smtClean="0"/>
              <a:t>:</a:t>
            </a:r>
          </a:p>
          <a:p>
            <a:pPr lvl="1">
              <a:buNone/>
            </a:pPr>
            <a:r>
              <a:rPr lang="en-US" dirty="0" smtClean="0"/>
              <a:t>A </a:t>
            </a:r>
            <a:r>
              <a:rPr lang="en-US" b="1" dirty="0" smtClean="0"/>
              <a:t>weekly sales performance memo</a:t>
            </a:r>
            <a:r>
              <a:rPr lang="en-US" dirty="0" smtClean="0"/>
              <a:t> sent to the Sales Head.</a:t>
            </a:r>
          </a:p>
          <a:p>
            <a:pPr lvl="1">
              <a:buNone/>
            </a:pPr>
            <a:r>
              <a:rPr lang="en-US" dirty="0" smtClean="0"/>
              <a:t>An </a:t>
            </a:r>
            <a:r>
              <a:rPr lang="en-US" b="1" dirty="0" smtClean="0"/>
              <a:t>email update</a:t>
            </a:r>
            <a:r>
              <a:rPr lang="en-US" dirty="0" smtClean="0"/>
              <a:t> from a project manager about project status.</a:t>
            </a:r>
          </a:p>
          <a:p>
            <a:r>
              <a:rPr lang="en-US" dirty="0" smtClean="0"/>
              <a:t>A </a:t>
            </a:r>
            <a:r>
              <a:rPr lang="en-US" b="1" dirty="0" smtClean="0"/>
              <a:t>weekly sales performance memo</a:t>
            </a:r>
            <a:r>
              <a:rPr lang="en-US" dirty="0" smtClean="0"/>
              <a:t> from a Sales Executive to the Sales Head:</a:t>
            </a:r>
          </a:p>
          <a:p>
            <a:r>
              <a:rPr lang="en-US" dirty="0" smtClean="0"/>
              <a:t>“This week, sales increased by 12% compared to the previous week, reaching ₹18 </a:t>
            </a:r>
            <a:r>
              <a:rPr lang="en-US" dirty="0" err="1" smtClean="0"/>
              <a:t>lakh</a:t>
            </a:r>
            <a:r>
              <a:rPr lang="en-US" dirty="0" smtClean="0"/>
              <a:t>. Mobile phones were the top-selling product. However, customer complaints increased slightly due to delayed deliveries. Measures are being taken to improve logistics.”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400800"/>
          </a:xfrm>
        </p:spPr>
        <p:txBody>
          <a:bodyPr>
            <a:normAutofit fontScale="40000" lnSpcReduction="20000"/>
          </a:bodyPr>
          <a:lstStyle/>
          <a:p>
            <a:pPr>
              <a:buNone/>
            </a:pPr>
            <a:r>
              <a:rPr lang="en-US" sz="4000" b="1" dirty="0" smtClean="0"/>
              <a:t>2</a:t>
            </a:r>
            <a:r>
              <a:rPr lang="en-US" sz="4500" b="1" dirty="0" smtClean="0"/>
              <a:t>. Formal Reports</a:t>
            </a:r>
          </a:p>
          <a:p>
            <a:pPr>
              <a:buNone/>
            </a:pPr>
            <a:r>
              <a:rPr lang="en-US" sz="4500" b="1" dirty="0" smtClean="0"/>
              <a:t>Definition</a:t>
            </a:r>
            <a:r>
              <a:rPr lang="en-US" sz="4500" dirty="0" smtClean="0"/>
              <a:t>: These are long and detailed reports, often 10–100+ pages, created for </a:t>
            </a:r>
            <a:r>
              <a:rPr lang="en-US" sz="4500" b="1" dirty="0" smtClean="0"/>
              <a:t>important business matters</a:t>
            </a:r>
            <a:r>
              <a:rPr lang="en-US" sz="4500" dirty="0" smtClean="0"/>
              <a:t> and usually shared with top management or external stakeholders.</a:t>
            </a:r>
          </a:p>
          <a:p>
            <a:pPr>
              <a:buNone/>
            </a:pPr>
            <a:r>
              <a:rPr lang="en-US" sz="4500" b="1" dirty="0" smtClean="0"/>
              <a:t>Style</a:t>
            </a:r>
            <a:r>
              <a:rPr lang="en-US" sz="4500" dirty="0" smtClean="0"/>
              <a:t>: Very structured. They include:</a:t>
            </a:r>
          </a:p>
          <a:p>
            <a:pPr lvl="1">
              <a:buNone/>
            </a:pPr>
            <a:r>
              <a:rPr lang="en-US" sz="4500" dirty="0" smtClean="0"/>
              <a:t>Title Page</a:t>
            </a:r>
          </a:p>
          <a:p>
            <a:pPr lvl="1">
              <a:buNone/>
            </a:pPr>
            <a:r>
              <a:rPr lang="en-US" sz="4500" dirty="0" smtClean="0"/>
              <a:t>Table of Contents</a:t>
            </a:r>
          </a:p>
          <a:p>
            <a:pPr lvl="1">
              <a:buNone/>
            </a:pPr>
            <a:r>
              <a:rPr lang="en-US" sz="4500" dirty="0" smtClean="0"/>
              <a:t>Executive Summary</a:t>
            </a:r>
          </a:p>
          <a:p>
            <a:pPr lvl="1">
              <a:buNone/>
            </a:pPr>
            <a:r>
              <a:rPr lang="en-US" sz="4500" dirty="0" smtClean="0"/>
              <a:t>Main Report (analysis, findings, data)</a:t>
            </a:r>
          </a:p>
          <a:p>
            <a:pPr lvl="1">
              <a:buNone/>
            </a:pPr>
            <a:r>
              <a:rPr lang="en-US" sz="4500" dirty="0" smtClean="0"/>
              <a:t>Conclusion &amp; Recommendations</a:t>
            </a:r>
          </a:p>
          <a:p>
            <a:pPr>
              <a:buNone/>
            </a:pPr>
            <a:r>
              <a:rPr lang="en-US" sz="4500" b="1" dirty="0" smtClean="0"/>
              <a:t>Purpose</a:t>
            </a:r>
            <a:r>
              <a:rPr lang="en-US" sz="4500" dirty="0" smtClean="0"/>
              <a:t>: To present </a:t>
            </a:r>
            <a:r>
              <a:rPr lang="en-US" sz="4500" b="1" dirty="0" smtClean="0"/>
              <a:t>in-depth analysis</a:t>
            </a:r>
            <a:r>
              <a:rPr lang="en-US" sz="4500" dirty="0" smtClean="0"/>
              <a:t>, financial information, or strategic recommendations.</a:t>
            </a:r>
          </a:p>
          <a:p>
            <a:pPr>
              <a:buNone/>
            </a:pPr>
            <a:r>
              <a:rPr lang="en-US" sz="4500" b="1" dirty="0" smtClean="0"/>
              <a:t>Example</a:t>
            </a:r>
            <a:r>
              <a:rPr lang="en-US" sz="4500" dirty="0" smtClean="0"/>
              <a:t>:</a:t>
            </a:r>
          </a:p>
          <a:p>
            <a:pPr lvl="1">
              <a:buNone/>
            </a:pPr>
            <a:r>
              <a:rPr lang="en-US" sz="4500" dirty="0" smtClean="0"/>
              <a:t>An </a:t>
            </a:r>
            <a:r>
              <a:rPr lang="en-US" sz="4500" b="1" dirty="0" smtClean="0"/>
              <a:t>Annual Financial Report</a:t>
            </a:r>
            <a:r>
              <a:rPr lang="en-US" sz="4500" dirty="0" smtClean="0"/>
              <a:t> for shareholders.</a:t>
            </a:r>
          </a:p>
          <a:p>
            <a:pPr lvl="1">
              <a:buNone/>
            </a:pPr>
            <a:r>
              <a:rPr lang="en-US" sz="4500" dirty="0" smtClean="0"/>
              <a:t>A </a:t>
            </a:r>
            <a:r>
              <a:rPr lang="en-US" sz="4500" b="1" dirty="0" smtClean="0"/>
              <a:t>Market Research Report</a:t>
            </a:r>
            <a:r>
              <a:rPr lang="en-US" sz="4500" dirty="0" smtClean="0"/>
              <a:t> before launching a new product.</a:t>
            </a:r>
          </a:p>
          <a:p>
            <a:pPr>
              <a:buNone/>
            </a:pPr>
            <a:r>
              <a:rPr lang="en-US" sz="4500" dirty="0" smtClean="0"/>
              <a:t>An </a:t>
            </a:r>
            <a:r>
              <a:rPr lang="en-US" sz="4500" b="1" dirty="0" smtClean="0"/>
              <a:t>Annual Financial Report</a:t>
            </a:r>
            <a:r>
              <a:rPr lang="en-US" sz="4500" dirty="0" smtClean="0"/>
              <a:t> prepared for shareholders:</a:t>
            </a:r>
            <a:br>
              <a:rPr lang="en-US" sz="4500" dirty="0" smtClean="0"/>
            </a:br>
            <a:r>
              <a:rPr lang="en-US" sz="4500" dirty="0" smtClean="0"/>
              <a:t>This document may run into 80–100 pages and include:</a:t>
            </a:r>
          </a:p>
          <a:p>
            <a:r>
              <a:rPr lang="en-US" sz="4500" dirty="0" smtClean="0"/>
              <a:t>Total revenue for the year: ₹500 </a:t>
            </a:r>
            <a:r>
              <a:rPr lang="en-US" sz="4500" dirty="0" err="1" smtClean="0"/>
              <a:t>crores</a:t>
            </a:r>
            <a:endParaRPr lang="en-US" sz="4500" dirty="0" smtClean="0"/>
          </a:p>
          <a:p>
            <a:r>
              <a:rPr lang="en-US" sz="4500" dirty="0" smtClean="0"/>
              <a:t>Net profit: ₹62 </a:t>
            </a:r>
            <a:r>
              <a:rPr lang="en-US" sz="4500" dirty="0" err="1" smtClean="0"/>
              <a:t>crores</a:t>
            </a:r>
            <a:endParaRPr lang="en-US" sz="4500" dirty="0" smtClean="0"/>
          </a:p>
          <a:p>
            <a:r>
              <a:rPr lang="en-US" sz="4500" dirty="0" smtClean="0"/>
              <a:t>Division-wise performance (Sales, Marketing, Operations)</a:t>
            </a:r>
          </a:p>
          <a:p>
            <a:r>
              <a:rPr lang="en-US" sz="4500" dirty="0" smtClean="0"/>
              <a:t>New projects, risks, and opportunities</a:t>
            </a:r>
          </a:p>
          <a:p>
            <a:r>
              <a:rPr lang="en-US" sz="4500" dirty="0" smtClean="0"/>
              <a:t>Future strategies for growth</a:t>
            </a:r>
          </a:p>
          <a:p>
            <a:pPr>
              <a:buNone/>
            </a:pPr>
            <a:r>
              <a:rPr lang="en-US" sz="4500" dirty="0" smtClean="0"/>
              <a:t>This type of report helps investors and stakeholders decide whether to continue or increase their investment.</a:t>
            </a:r>
          </a:p>
          <a:p>
            <a:pPr lvl="1"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smtClean="0"/>
              <a:t>3. Short Reports</a:t>
            </a:r>
          </a:p>
          <a:p>
            <a:pPr>
              <a:buNone/>
            </a:pPr>
            <a:r>
              <a:rPr lang="en-US" b="1" dirty="0" smtClean="0"/>
              <a:t>Definition</a:t>
            </a:r>
            <a:r>
              <a:rPr lang="en-US" dirty="0" smtClean="0"/>
              <a:t>: These are very brief reports (sometimes just 1–2 pages) prepared for </a:t>
            </a:r>
            <a:r>
              <a:rPr lang="en-US" b="1" dirty="0" smtClean="0"/>
              <a:t>quick communication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b="1" dirty="0" smtClean="0"/>
              <a:t>Style</a:t>
            </a:r>
            <a:r>
              <a:rPr lang="en-US" dirty="0" smtClean="0"/>
              <a:t>: Direct and concise, focusing only on the problem, data, or incident.</a:t>
            </a:r>
          </a:p>
          <a:p>
            <a:pPr>
              <a:buNone/>
            </a:pPr>
            <a:r>
              <a:rPr lang="en-US" b="1" dirty="0" smtClean="0"/>
              <a:t>Purpose</a:t>
            </a:r>
            <a:r>
              <a:rPr lang="en-US" dirty="0" smtClean="0"/>
              <a:t>: To inform quickly about a specific event, update, or issue.</a:t>
            </a:r>
          </a:p>
          <a:p>
            <a:pPr>
              <a:buNone/>
            </a:pPr>
            <a:r>
              <a:rPr lang="en-US" b="1" dirty="0" smtClean="0"/>
              <a:t>Example</a:t>
            </a:r>
            <a:r>
              <a:rPr lang="en-US" dirty="0" smtClean="0"/>
              <a:t>:</a:t>
            </a:r>
          </a:p>
          <a:p>
            <a:pPr lvl="1">
              <a:buNone/>
            </a:pPr>
            <a:r>
              <a:rPr lang="en-US" dirty="0" smtClean="0"/>
              <a:t>A </a:t>
            </a:r>
            <a:r>
              <a:rPr lang="en-US" b="1" dirty="0" smtClean="0"/>
              <a:t>System Downtime Report</a:t>
            </a:r>
            <a:r>
              <a:rPr lang="en-US" dirty="0" smtClean="0"/>
              <a:t> sent to the IT team.</a:t>
            </a:r>
          </a:p>
          <a:p>
            <a:pPr lvl="1">
              <a:buNone/>
            </a:pPr>
            <a:r>
              <a:rPr lang="en-US" dirty="0" smtClean="0"/>
              <a:t>A </a:t>
            </a:r>
            <a:r>
              <a:rPr lang="en-US" b="1" dirty="0" smtClean="0"/>
              <a:t>Compliance Report</a:t>
            </a:r>
            <a:r>
              <a:rPr lang="en-US" dirty="0" smtClean="0"/>
              <a:t> submitted to the government.</a:t>
            </a:r>
          </a:p>
          <a:p>
            <a:pPr>
              <a:buNone/>
            </a:pPr>
            <a:r>
              <a:rPr lang="en-US" dirty="0" smtClean="0"/>
              <a:t>A </a:t>
            </a:r>
            <a:r>
              <a:rPr lang="en-US" b="1" dirty="0" smtClean="0"/>
              <a:t>System Downtime Report</a:t>
            </a:r>
            <a:r>
              <a:rPr lang="en-US" dirty="0" smtClean="0"/>
              <a:t> from an IT Manager to the CIO:</a:t>
            </a:r>
          </a:p>
          <a:p>
            <a:pPr>
              <a:buNone/>
            </a:pPr>
            <a:r>
              <a:rPr lang="en-US" dirty="0" smtClean="0"/>
              <a:t>“On 18 August, Server X was down from 2:00 AM to 4:05 AM due to a power outage. Impact: 200 failed customer transactions. Corrective action: new backup generator installed to prevent future downtime.”</a:t>
            </a:r>
          </a:p>
          <a:p>
            <a:pPr lvl="1"/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r>
              <a:rPr lang="en-US" b="1" dirty="0" smtClean="0"/>
              <a:t>Types of Business Reports</a:t>
            </a:r>
            <a:r>
              <a:rPr lang="en-US" dirty="0" smtClean="0"/>
              <a:t> → Based on </a:t>
            </a:r>
            <a:r>
              <a:rPr lang="en-US" b="1" dirty="0" smtClean="0"/>
              <a:t>format</a:t>
            </a:r>
            <a:r>
              <a:rPr lang="en-US" dirty="0" smtClean="0"/>
              <a:t> (Formal, Informal, Short).</a:t>
            </a:r>
          </a:p>
          <a:p>
            <a:r>
              <a:rPr lang="en-US" b="1" dirty="0" smtClean="0"/>
              <a:t>Categories of Business Reports</a:t>
            </a:r>
            <a:r>
              <a:rPr lang="en-US" dirty="0" smtClean="0"/>
              <a:t> → Based on </a:t>
            </a:r>
            <a:r>
              <a:rPr lang="en-US" b="1" dirty="0" smtClean="0"/>
              <a:t>decision purpose</a:t>
            </a:r>
            <a:r>
              <a:rPr lang="en-US" dirty="0" smtClean="0"/>
              <a:t> (how they help managers).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/>
              <a:t>1. Metric Management Reports</a:t>
            </a:r>
          </a:p>
          <a:p>
            <a:pPr>
              <a:buNone/>
            </a:pPr>
            <a:r>
              <a:rPr lang="en-US" b="1" dirty="0" smtClean="0"/>
              <a:t>Purpose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 smtClean="0"/>
              <a:t>These reports are created to </a:t>
            </a:r>
            <a:r>
              <a:rPr lang="en-US" b="1" dirty="0" smtClean="0"/>
              <a:t>track Key Performance Indicators (KPIs)-</a:t>
            </a:r>
            <a:r>
              <a:rPr lang="en-US" dirty="0" smtClean="0"/>
              <a:t> </a:t>
            </a:r>
            <a:r>
              <a:rPr lang="en-US" b="1" dirty="0" smtClean="0"/>
              <a:t>measurement that shows how well a company or team is doing</a:t>
            </a:r>
            <a:r>
              <a:rPr lang="en-US" dirty="0" smtClean="0"/>
              <a:t> in achieving its goals. or </a:t>
            </a:r>
            <a:r>
              <a:rPr lang="en-US" b="1" dirty="0" smtClean="0"/>
              <a:t>Service-Level Agreements (SLAs)- formal promise/contract</a:t>
            </a:r>
            <a:r>
              <a:rPr lang="en-US" dirty="0" smtClean="0"/>
              <a:t> between a service provider and a client, against predefined targets.</a:t>
            </a:r>
          </a:p>
          <a:p>
            <a:pPr>
              <a:buNone/>
            </a:pPr>
            <a:r>
              <a:rPr lang="en-US" b="1" dirty="0" smtClean="0"/>
              <a:t>Decision Role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 smtClean="0"/>
              <a:t>Helps managers monitor if business performance is </a:t>
            </a:r>
            <a:r>
              <a:rPr lang="en-US" b="1" dirty="0" smtClean="0"/>
              <a:t>on track or off track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b="1" dirty="0" smtClean="0"/>
              <a:t>Typical Users</a:t>
            </a:r>
            <a:r>
              <a:rPr lang="en-US" dirty="0" smtClean="0"/>
              <a:t>: Operations managers, team leaders, department heads.</a:t>
            </a:r>
          </a:p>
          <a:p>
            <a:pPr>
              <a:buNone/>
            </a:pPr>
            <a:r>
              <a:rPr lang="en-US" b="1" dirty="0" smtClean="0"/>
              <a:t>Format</a:t>
            </a:r>
            <a:r>
              <a:rPr lang="en-US" dirty="0" smtClean="0"/>
              <a:t>: Usually tabular, sometimes with conditional formatting (green = on target, red = below target).</a:t>
            </a:r>
          </a:p>
          <a:p>
            <a:pPr>
              <a:buNone/>
            </a:pPr>
            <a:r>
              <a:rPr lang="en-US" dirty="0" smtClean="0"/>
              <a:t>📌 </a:t>
            </a:r>
            <a:r>
              <a:rPr lang="en-US" b="1" dirty="0" smtClean="0"/>
              <a:t>Example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dirty="0" smtClean="0"/>
              <a:t>On-time delivery target = </a:t>
            </a:r>
            <a:r>
              <a:rPr lang="en-US" b="1" dirty="0" smtClean="0"/>
              <a:t>95%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Current performance = </a:t>
            </a:r>
            <a:r>
              <a:rPr lang="en-US" b="1" dirty="0" smtClean="0"/>
              <a:t>91% (below target → Red)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Decision: Operations manager must investigate late deliveries and fix the bottleneck.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b="1" dirty="0" smtClean="0"/>
              <a:t>2. Dashboard-type Reports</a:t>
            </a:r>
          </a:p>
          <a:p>
            <a:pPr>
              <a:buNone/>
            </a:pPr>
            <a:r>
              <a:rPr lang="en-US" b="1" dirty="0" smtClean="0"/>
              <a:t>Purpose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 smtClean="0"/>
              <a:t>To provide a </a:t>
            </a:r>
            <a:r>
              <a:rPr lang="en-US" b="1" dirty="0" smtClean="0"/>
              <a:t>one-page visual snapshot</a:t>
            </a:r>
            <a:r>
              <a:rPr lang="en-US" dirty="0" smtClean="0"/>
              <a:t> of business health using charts, KPIs, and color-coded indicators (</a:t>
            </a:r>
            <a:r>
              <a:rPr lang="en-US" dirty="0" smtClean="0">
                <a:solidFill>
                  <a:srgbClr val="00B050"/>
                </a:solidFill>
              </a:rPr>
              <a:t>🟢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🟠 </a:t>
            </a:r>
            <a:r>
              <a:rPr lang="en-US" dirty="0" smtClean="0">
                <a:solidFill>
                  <a:srgbClr val="FFC000"/>
                </a:solidFill>
              </a:rPr>
              <a:t>🔴).</a:t>
            </a:r>
          </a:p>
          <a:p>
            <a:pPr>
              <a:buNone/>
            </a:pPr>
            <a:r>
              <a:rPr lang="en-US" b="1" dirty="0" smtClean="0"/>
              <a:t>Decision Role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 smtClean="0"/>
              <a:t>Helps </a:t>
            </a:r>
            <a:r>
              <a:rPr lang="en-US" b="1" dirty="0" smtClean="0"/>
              <a:t>executives</a:t>
            </a:r>
            <a:r>
              <a:rPr lang="en-US" dirty="0" smtClean="0"/>
              <a:t> and </a:t>
            </a:r>
            <a:r>
              <a:rPr lang="en-US" b="1" dirty="0" smtClean="0"/>
              <a:t>top managers</a:t>
            </a:r>
            <a:r>
              <a:rPr lang="en-US" dirty="0" smtClean="0"/>
              <a:t> quickly grasp overall performance and spot problem areas.</a:t>
            </a:r>
          </a:p>
          <a:p>
            <a:pPr>
              <a:buNone/>
            </a:pPr>
            <a:r>
              <a:rPr lang="en-US" b="1" dirty="0" smtClean="0"/>
              <a:t>Typical Users</a:t>
            </a:r>
            <a:r>
              <a:rPr lang="en-US" dirty="0" smtClean="0"/>
              <a:t>: CEOs, CXOs, senior management.</a:t>
            </a:r>
          </a:p>
          <a:p>
            <a:pPr>
              <a:buNone/>
            </a:pPr>
            <a:r>
              <a:rPr lang="en-US" b="1" dirty="0" smtClean="0"/>
              <a:t>Format</a:t>
            </a:r>
            <a:r>
              <a:rPr lang="en-US" dirty="0" smtClean="0"/>
              <a:t>: Interactive dashboards, visual charts, trend lines, drill-down options.</a:t>
            </a:r>
          </a:p>
          <a:p>
            <a:pPr>
              <a:buNone/>
            </a:pPr>
            <a:r>
              <a:rPr lang="en-US" dirty="0" smtClean="0"/>
              <a:t>📌 </a:t>
            </a:r>
            <a:r>
              <a:rPr lang="en-US" b="1" dirty="0" smtClean="0"/>
              <a:t>Example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 smtClean="0"/>
              <a:t>A </a:t>
            </a:r>
            <a:r>
              <a:rPr lang="en-US" b="1" dirty="0" smtClean="0"/>
              <a:t>CEO Dashboard</a:t>
            </a:r>
            <a:r>
              <a:rPr lang="en-US" dirty="0" smtClean="0"/>
              <a:t> showing:</a:t>
            </a:r>
          </a:p>
          <a:p>
            <a:pPr>
              <a:buNone/>
            </a:pPr>
            <a:r>
              <a:rPr lang="en-US" dirty="0" smtClean="0"/>
              <a:t>Revenue Trend → ₹ 50 Cr this quarter vs. ₹ 48 Cr last quarter (</a:t>
            </a:r>
            <a:r>
              <a:rPr lang="en-US" dirty="0" smtClean="0">
                <a:solidFill>
                  <a:srgbClr val="92D050"/>
                </a:solidFill>
              </a:rPr>
              <a:t>🟢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/>
              <a:t>On-time Delivery % → 91% vs. Target 95% (</a:t>
            </a:r>
            <a:r>
              <a:rPr lang="en-US" dirty="0" smtClean="0">
                <a:solidFill>
                  <a:srgbClr val="FFC000"/>
                </a:solidFill>
              </a:rPr>
              <a:t>🔴)</a:t>
            </a:r>
          </a:p>
          <a:p>
            <a:pPr>
              <a:buNone/>
            </a:pPr>
            <a:r>
              <a:rPr lang="en-US" dirty="0" smtClean="0"/>
              <a:t>Customer Complaint Rate → 4.2% vs. Target 3% (</a:t>
            </a:r>
            <a:r>
              <a:rPr lang="en-US" dirty="0" smtClean="0">
                <a:solidFill>
                  <a:srgbClr val="C00000"/>
                </a:solidFill>
              </a:rPr>
              <a:t>🟠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/>
              <a:t>Top 5 problem regions listed on map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Decision: CEO can quickly see where to focus attention (customer complaints + logistics).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b="1" dirty="0" smtClean="0"/>
              <a:t>Balanced Scorecard (BSC) Reports</a:t>
            </a:r>
          </a:p>
          <a:p>
            <a:pPr>
              <a:buNone/>
            </a:pPr>
            <a:r>
              <a:rPr lang="en-US" dirty="0" smtClean="0"/>
              <a:t>The </a:t>
            </a:r>
            <a:r>
              <a:rPr lang="en-US" b="1" dirty="0" smtClean="0"/>
              <a:t>Balanced Scorecard (BSC)</a:t>
            </a:r>
            <a:r>
              <a:rPr lang="en-US" dirty="0" smtClean="0"/>
              <a:t> is not just a report—it is a </a:t>
            </a:r>
            <a:r>
              <a:rPr lang="en-US" b="1" dirty="0" smtClean="0"/>
              <a:t>decision support tool</a:t>
            </a:r>
            <a:r>
              <a:rPr lang="en-US" dirty="0" smtClean="0"/>
              <a:t>.</a:t>
            </a:r>
            <a:br>
              <a:rPr lang="en-US" dirty="0" smtClean="0"/>
            </a:br>
            <a:r>
              <a:rPr lang="en-US" dirty="0" smtClean="0"/>
              <a:t>It helps managers:</a:t>
            </a:r>
          </a:p>
          <a:p>
            <a:pPr>
              <a:buNone/>
            </a:pPr>
            <a:r>
              <a:rPr lang="en-US" dirty="0" smtClean="0"/>
              <a:t>Check if </a:t>
            </a:r>
            <a:r>
              <a:rPr lang="en-US" b="1" dirty="0" smtClean="0"/>
              <a:t>strategy</a:t>
            </a:r>
            <a:r>
              <a:rPr lang="en-US" dirty="0" smtClean="0"/>
              <a:t> (big goals) matches </a:t>
            </a:r>
            <a:r>
              <a:rPr lang="en-US" b="1" dirty="0" smtClean="0"/>
              <a:t>operations</a:t>
            </a:r>
            <a:r>
              <a:rPr lang="en-US" dirty="0" smtClean="0"/>
              <a:t> (day-to-day work).</a:t>
            </a:r>
          </a:p>
          <a:p>
            <a:pPr>
              <a:buNone/>
            </a:pPr>
            <a:r>
              <a:rPr lang="en-US" dirty="0" smtClean="0"/>
              <a:t>Avoid focusing </a:t>
            </a:r>
            <a:r>
              <a:rPr lang="en-US" b="1" dirty="0" smtClean="0"/>
              <a:t>only on profit</a:t>
            </a:r>
            <a:r>
              <a:rPr lang="en-US" dirty="0" smtClean="0"/>
              <a:t> while ignoring customer satisfaction, process quality, or employee growth.</a:t>
            </a:r>
          </a:p>
          <a:p>
            <a:pPr>
              <a:buNone/>
            </a:pPr>
            <a:r>
              <a:rPr lang="en-US" dirty="0" smtClean="0"/>
              <a:t>Make </a:t>
            </a:r>
            <a:r>
              <a:rPr lang="en-US" b="1" dirty="0" smtClean="0"/>
              <a:t>balanced decisions</a:t>
            </a:r>
            <a:r>
              <a:rPr lang="en-US" dirty="0" smtClean="0"/>
              <a:t> that ensure both </a:t>
            </a:r>
            <a:r>
              <a:rPr lang="en-US" b="1" dirty="0" smtClean="0"/>
              <a:t>short-term success</a:t>
            </a:r>
            <a:r>
              <a:rPr lang="en-US" dirty="0" smtClean="0"/>
              <a:t> and </a:t>
            </a:r>
            <a:r>
              <a:rPr lang="en-US" b="1" dirty="0" smtClean="0"/>
              <a:t>long-term sustainability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👉 Example: A company might have high profit this quarter, but if employees are not trained and customers are unhappy, future profits will fall.</a:t>
            </a:r>
            <a:r>
              <a:rPr lang="en-US" b="1" dirty="0" smtClean="0"/>
              <a:t> Example – Quarterly</a:t>
            </a:r>
          </a:p>
          <a:p>
            <a:pPr>
              <a:buNone/>
            </a:pPr>
            <a:r>
              <a:rPr lang="en-US" b="1" dirty="0" smtClean="0"/>
              <a:t>BSC Report</a:t>
            </a:r>
          </a:p>
          <a:p>
            <a:pPr marL="747713" indent="1588">
              <a:buNone/>
            </a:pPr>
            <a:r>
              <a:rPr lang="en-US" b="1" dirty="0" smtClean="0"/>
              <a:t>Financial:</a:t>
            </a:r>
            <a:r>
              <a:rPr lang="en-US" dirty="0" smtClean="0"/>
              <a:t> Net Profit Margin = 14% (🟢 Good)</a:t>
            </a:r>
          </a:p>
          <a:p>
            <a:pPr marL="747713" indent="1588">
              <a:buNone/>
            </a:pPr>
            <a:r>
              <a:rPr lang="en-US" b="1" dirty="0" smtClean="0"/>
              <a:t>Customer:</a:t>
            </a:r>
            <a:r>
              <a:rPr lang="en-US" dirty="0" smtClean="0"/>
              <a:t> Net Promoter Score (NPS) = 62 (🟠 Medium)</a:t>
            </a:r>
          </a:p>
          <a:p>
            <a:pPr marL="747713" indent="1588">
              <a:buNone/>
            </a:pPr>
            <a:r>
              <a:rPr lang="en-US" b="1" dirty="0" smtClean="0"/>
              <a:t>Internal Process:</a:t>
            </a:r>
            <a:r>
              <a:rPr lang="en-US" dirty="0" smtClean="0"/>
              <a:t> Picking Accuracy = 98.5% (🟢 Good)</a:t>
            </a:r>
          </a:p>
          <a:p>
            <a:pPr marL="747713" indent="1588">
              <a:buNone/>
            </a:pPr>
            <a:r>
              <a:rPr lang="en-US" b="1" dirty="0" smtClean="0"/>
              <a:t>Learning &amp; Growth:</a:t>
            </a:r>
            <a:r>
              <a:rPr lang="en-US" dirty="0" smtClean="0"/>
              <a:t> Training Hours = 8 hrs/employee/quarter (🟢 Good)</a:t>
            </a:r>
          </a:p>
          <a:p>
            <a:pPr>
              <a:buNone/>
            </a:pPr>
            <a:r>
              <a:rPr lang="en-US" b="1" dirty="0" smtClean="0"/>
              <a:t>Decision Insight</a:t>
            </a:r>
          </a:p>
          <a:p>
            <a:pPr>
              <a:buNone/>
            </a:pPr>
            <a:r>
              <a:rPr lang="en-US" dirty="0" smtClean="0"/>
              <a:t>If profit is high (Financial = 🟢) </a:t>
            </a:r>
            <a:r>
              <a:rPr lang="en-US" b="1" dirty="0" smtClean="0"/>
              <a:t>but customer NPS is dropping</a:t>
            </a:r>
            <a:r>
              <a:rPr lang="en-US" dirty="0" smtClean="0"/>
              <a:t> (Customer = 🟠),</a:t>
            </a:r>
            <a:br>
              <a:rPr lang="en-US" dirty="0" smtClean="0"/>
            </a:br>
            <a:r>
              <a:rPr lang="en-US" dirty="0" smtClean="0"/>
              <a:t>👉 This signals that </a:t>
            </a:r>
            <a:r>
              <a:rPr lang="en-US" b="1" dirty="0" smtClean="0"/>
              <a:t>customers may leave in the future</a:t>
            </a:r>
            <a:r>
              <a:rPr lang="en-US" dirty="0" smtClean="0"/>
              <a:t>, even though money looks good now.</a:t>
            </a:r>
          </a:p>
          <a:p>
            <a:pPr>
              <a:buNone/>
            </a:pPr>
            <a:r>
              <a:rPr lang="en-US" dirty="0" smtClean="0"/>
              <a:t>Management should decide to </a:t>
            </a:r>
            <a:r>
              <a:rPr lang="en-US" b="1" dirty="0" smtClean="0"/>
              <a:t>invest in customer service and experience</a:t>
            </a:r>
            <a:r>
              <a:rPr lang="en-US" dirty="0" smtClean="0"/>
              <a:t>, not just focus on profit.</a:t>
            </a:r>
          </a:p>
          <a:p>
            <a:pPr>
              <a:buNone/>
            </a:pPr>
            <a:r>
              <a:rPr lang="en-US" dirty="0" smtClean="0"/>
              <a:t>This keeps </a:t>
            </a:r>
            <a:r>
              <a:rPr lang="en-US" b="1" dirty="0" smtClean="0"/>
              <a:t>long-term loyalty and sustainable growth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Components of the Business Reporting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b="1" dirty="0" smtClean="0"/>
              <a:t>1. OLTP (Capture Events)</a:t>
            </a:r>
          </a:p>
          <a:p>
            <a:pPr>
              <a:buNone/>
            </a:pPr>
            <a:r>
              <a:rPr lang="en-US" b="1" dirty="0" smtClean="0"/>
              <a:t>What it is</a:t>
            </a:r>
            <a:r>
              <a:rPr lang="en-US" dirty="0" smtClean="0"/>
              <a:t>: OLTP = Online Transaction Processing system.</a:t>
            </a:r>
          </a:p>
          <a:p>
            <a:pPr>
              <a:buNone/>
            </a:pPr>
            <a:r>
              <a:rPr lang="en-US" dirty="0" smtClean="0"/>
              <a:t>This is where </a:t>
            </a:r>
            <a:r>
              <a:rPr lang="en-US" b="1" dirty="0" smtClean="0"/>
              <a:t>data is first generated</a:t>
            </a:r>
            <a:r>
              <a:rPr lang="en-US" dirty="0" smtClean="0"/>
              <a:t> during day-to-day business operations.</a:t>
            </a:r>
          </a:p>
          <a:p>
            <a:pPr>
              <a:buNone/>
            </a:pPr>
            <a:r>
              <a:rPr lang="en-US" dirty="0" smtClean="0"/>
              <a:t>Examples: Point-of-Sale (POS), ERP systems, Mobile Apps, Web portals.</a:t>
            </a:r>
          </a:p>
          <a:p>
            <a:pPr>
              <a:buNone/>
            </a:pPr>
            <a:r>
              <a:rPr lang="en-US" dirty="0" smtClean="0"/>
              <a:t>👉 </a:t>
            </a:r>
            <a:r>
              <a:rPr lang="en-US" b="1" dirty="0" smtClean="0"/>
              <a:t>Example</a:t>
            </a:r>
            <a:r>
              <a:rPr lang="en-US" dirty="0" smtClean="0"/>
              <a:t>: A customer buys groceries at Big Bazaar. The POS system logs:</a:t>
            </a:r>
            <a:br>
              <a:rPr lang="en-US" dirty="0" smtClean="0"/>
            </a:br>
            <a:r>
              <a:rPr lang="en-US" dirty="0" smtClean="0"/>
              <a:t>{Date: 19-Aug, Item: Milk, Price: ₹50, Payment: UPI, Store: </a:t>
            </a:r>
            <a:r>
              <a:rPr lang="en-US" dirty="0" err="1" smtClean="0"/>
              <a:t>Bengaluru</a:t>
            </a:r>
            <a:r>
              <a:rPr lang="en-US" dirty="0" smtClean="0"/>
              <a:t>}</a:t>
            </a:r>
          </a:p>
          <a:p>
            <a:pPr>
              <a:buNone/>
            </a:pPr>
            <a:r>
              <a:rPr lang="en-US" b="1" dirty="0" smtClean="0"/>
              <a:t>2. Data Supply (Move Data)</a:t>
            </a:r>
          </a:p>
          <a:p>
            <a:pPr>
              <a:buNone/>
            </a:pPr>
            <a:r>
              <a:rPr lang="en-US" dirty="0" smtClean="0"/>
              <a:t>The data from OLTP needs to move into analytics systems.</a:t>
            </a:r>
          </a:p>
          <a:p>
            <a:pPr>
              <a:buNone/>
            </a:pPr>
            <a:r>
              <a:rPr lang="en-US" dirty="0" smtClean="0"/>
              <a:t>Two main ways:</a:t>
            </a:r>
          </a:p>
          <a:p>
            <a:pPr lvl="1">
              <a:buNone/>
            </a:pPr>
            <a:r>
              <a:rPr lang="en-US" b="1" dirty="0" smtClean="0"/>
              <a:t>Batch mode</a:t>
            </a:r>
            <a:r>
              <a:rPr lang="en-US" dirty="0" smtClean="0"/>
              <a:t> → once a day (e.g., midnight data load).</a:t>
            </a:r>
          </a:p>
          <a:p>
            <a:pPr lvl="1">
              <a:buNone/>
            </a:pPr>
            <a:r>
              <a:rPr lang="en-US" b="1" dirty="0" smtClean="0"/>
              <a:t>Real-time (streaming)</a:t>
            </a:r>
            <a:r>
              <a:rPr lang="en-US" dirty="0" smtClean="0"/>
              <a:t> → as soon as the event happens.</a:t>
            </a:r>
          </a:p>
          <a:p>
            <a:pPr>
              <a:buNone/>
            </a:pPr>
            <a:r>
              <a:rPr lang="en-US" dirty="0" smtClean="0"/>
              <a:t>👉 </a:t>
            </a:r>
            <a:r>
              <a:rPr lang="en-US" b="1" dirty="0" smtClean="0"/>
              <a:t>Example</a:t>
            </a:r>
            <a:r>
              <a:rPr lang="en-US" dirty="0" smtClean="0"/>
              <a:t>: Big Bazaar POS sales are uploaded </a:t>
            </a:r>
            <a:r>
              <a:rPr lang="en-US" b="1" dirty="0" smtClean="0"/>
              <a:t>nightly</a:t>
            </a:r>
            <a:r>
              <a:rPr lang="en-US" dirty="0" smtClean="0"/>
              <a:t> to the central server; or in Amazon’s case, </a:t>
            </a:r>
            <a:r>
              <a:rPr lang="en-US" b="1" dirty="0" smtClean="0"/>
              <a:t>real-time streaming</a:t>
            </a:r>
            <a:r>
              <a:rPr lang="en-US" dirty="0" smtClean="0"/>
              <a:t> updates inventory instantly.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/>
              <a:t>3. ETL (Extract – Transform – Load)</a:t>
            </a:r>
          </a:p>
          <a:p>
            <a:pPr>
              <a:buNone/>
            </a:pPr>
            <a:r>
              <a:rPr lang="en-US" b="1" dirty="0" smtClean="0"/>
              <a:t>Extract</a:t>
            </a:r>
            <a:r>
              <a:rPr lang="en-US" dirty="0" smtClean="0"/>
              <a:t>: Pull raw data from OLTP.</a:t>
            </a:r>
          </a:p>
          <a:p>
            <a:pPr>
              <a:buNone/>
            </a:pPr>
            <a:r>
              <a:rPr lang="en-US" b="1" dirty="0" smtClean="0"/>
              <a:t>Transform</a:t>
            </a:r>
            <a:r>
              <a:rPr lang="en-US" dirty="0" smtClean="0"/>
              <a:t>: Clean the data.</a:t>
            </a:r>
          </a:p>
          <a:p>
            <a:pPr lvl="1">
              <a:buNone/>
            </a:pPr>
            <a:r>
              <a:rPr lang="en-US" dirty="0" smtClean="0"/>
              <a:t>Remove duplicates (same order logged twice).</a:t>
            </a:r>
          </a:p>
          <a:p>
            <a:pPr lvl="1">
              <a:buNone/>
            </a:pPr>
            <a:r>
              <a:rPr lang="en-US" dirty="0" smtClean="0"/>
              <a:t>Fix codes (e.g., “BLR” → “</a:t>
            </a:r>
            <a:r>
              <a:rPr lang="en-US" dirty="0" err="1" smtClean="0"/>
              <a:t>Bengaluru</a:t>
            </a:r>
            <a:r>
              <a:rPr lang="en-US" dirty="0" smtClean="0"/>
              <a:t>”).</a:t>
            </a:r>
          </a:p>
          <a:p>
            <a:pPr lvl="1">
              <a:buNone/>
            </a:pPr>
            <a:r>
              <a:rPr lang="en-US" dirty="0" smtClean="0"/>
              <a:t>Standardize formats (DD/MM/YYYY → YYYY-MM-DD).</a:t>
            </a:r>
          </a:p>
          <a:p>
            <a:pPr>
              <a:buNone/>
            </a:pPr>
            <a:r>
              <a:rPr lang="en-US" b="1" dirty="0" smtClean="0"/>
              <a:t>Load</a:t>
            </a:r>
            <a:r>
              <a:rPr lang="en-US" dirty="0" smtClean="0"/>
              <a:t>: Store clean data into the </a:t>
            </a:r>
            <a:r>
              <a:rPr lang="en-US" b="1" dirty="0" smtClean="0"/>
              <a:t>data warehouse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👉 </a:t>
            </a:r>
            <a:r>
              <a:rPr lang="en-US" b="1" dirty="0" smtClean="0"/>
              <a:t>Example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dirty="0" smtClean="0"/>
              <a:t>“</a:t>
            </a:r>
            <a:r>
              <a:rPr lang="en-US" dirty="0" err="1" smtClean="0"/>
              <a:t>B’luru</a:t>
            </a:r>
            <a:r>
              <a:rPr lang="en-US" dirty="0" smtClean="0"/>
              <a:t>”, “BLR”, “Bangalore” → standardized as </a:t>
            </a:r>
            <a:r>
              <a:rPr lang="en-US" b="1" dirty="0" smtClean="0"/>
              <a:t>“</a:t>
            </a:r>
            <a:r>
              <a:rPr lang="en-US" b="1" dirty="0" err="1" smtClean="0"/>
              <a:t>Bengaluru</a:t>
            </a:r>
            <a:r>
              <a:rPr lang="en-US" b="1" dirty="0" smtClean="0"/>
              <a:t>”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Duplicate order entries removed.</a:t>
            </a:r>
          </a:p>
          <a:p>
            <a:pPr>
              <a:buNone/>
            </a:pPr>
            <a:r>
              <a:rPr lang="en-US" b="1" dirty="0" smtClean="0"/>
              <a:t>4. Data Storage (Warehouse/Marts/OLAP)</a:t>
            </a:r>
          </a:p>
          <a:p>
            <a:pPr>
              <a:buNone/>
            </a:pPr>
            <a:r>
              <a:rPr lang="en-US" dirty="0" smtClean="0"/>
              <a:t>The cleaned data is stored in a </a:t>
            </a:r>
            <a:r>
              <a:rPr lang="en-US" b="1" dirty="0" smtClean="0"/>
              <a:t>Data Warehouse</a:t>
            </a:r>
            <a:r>
              <a:rPr lang="en-US" dirty="0" smtClean="0"/>
              <a:t> (central storage).</a:t>
            </a:r>
          </a:p>
          <a:p>
            <a:pPr>
              <a:buNone/>
            </a:pPr>
            <a:r>
              <a:rPr lang="en-US" dirty="0" smtClean="0"/>
              <a:t>Data marts = smaller subject-focused slices (e.g., only Sales, only HR).</a:t>
            </a:r>
          </a:p>
          <a:p>
            <a:pPr>
              <a:buNone/>
            </a:pPr>
            <a:r>
              <a:rPr lang="en-US" dirty="0" smtClean="0"/>
              <a:t>OLAP Cubes = structured way to slice &amp; dice data (by time, region, product).</a:t>
            </a:r>
          </a:p>
          <a:p>
            <a:pPr>
              <a:buNone/>
            </a:pPr>
            <a:r>
              <a:rPr lang="en-US" dirty="0" smtClean="0"/>
              <a:t>👉 </a:t>
            </a:r>
            <a:r>
              <a:rPr lang="en-US" b="1" dirty="0" smtClean="0"/>
              <a:t>Example</a:t>
            </a:r>
            <a:r>
              <a:rPr lang="en-US" dirty="0" smtClean="0"/>
              <a:t>: Big Bazaar’s warehouse keeps </a:t>
            </a:r>
            <a:r>
              <a:rPr lang="en-US" b="1" dirty="0" smtClean="0"/>
              <a:t>5 years of sales history</a:t>
            </a:r>
            <a:r>
              <a:rPr lang="en-US" dirty="0" smtClean="0"/>
              <a:t> so managers can compare </a:t>
            </a:r>
            <a:r>
              <a:rPr lang="en-US" b="1" dirty="0" smtClean="0"/>
              <a:t>this August </a:t>
            </a:r>
            <a:r>
              <a:rPr lang="en-US" b="1" dirty="0" err="1" smtClean="0"/>
              <a:t>vs</a:t>
            </a:r>
            <a:r>
              <a:rPr lang="en-US" b="1" dirty="0" smtClean="0"/>
              <a:t> last August</a:t>
            </a:r>
            <a:r>
              <a:rPr lang="en-US" dirty="0" smtClean="0"/>
              <a:t> across regions.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324600"/>
          </a:xfrm>
        </p:spPr>
        <p:txBody>
          <a:bodyPr>
            <a:normAutofit fontScale="40000" lnSpcReduction="20000"/>
          </a:bodyPr>
          <a:lstStyle/>
          <a:p>
            <a:pPr>
              <a:buNone/>
            </a:pPr>
            <a:r>
              <a:rPr lang="en-US" sz="4000" b="1" dirty="0" smtClean="0"/>
              <a:t>5. Business Logic (KPIs &amp; Metrics)</a:t>
            </a:r>
          </a:p>
          <a:p>
            <a:pPr>
              <a:buNone/>
            </a:pPr>
            <a:r>
              <a:rPr lang="en-US" sz="4000" dirty="0" smtClean="0"/>
              <a:t>Define formulas, rules, and calculations.</a:t>
            </a:r>
          </a:p>
          <a:p>
            <a:pPr>
              <a:buNone/>
            </a:pPr>
            <a:r>
              <a:rPr lang="en-US" sz="4000" dirty="0" smtClean="0"/>
              <a:t>Example:</a:t>
            </a:r>
          </a:p>
          <a:p>
            <a:pPr lvl="1">
              <a:buNone/>
            </a:pPr>
            <a:r>
              <a:rPr lang="en-US" sz="4000" b="1" dirty="0" smtClean="0"/>
              <a:t>On-time Delivery %</a:t>
            </a:r>
            <a:r>
              <a:rPr lang="en-US" sz="4000" dirty="0" smtClean="0"/>
              <a:t> = (On-time orders ÷ Total orders) × 100</a:t>
            </a:r>
          </a:p>
          <a:p>
            <a:pPr lvl="1">
              <a:buNone/>
            </a:pPr>
            <a:r>
              <a:rPr lang="en-US" sz="4000" b="1" dirty="0" smtClean="0"/>
              <a:t>Customer Retention Rate</a:t>
            </a:r>
            <a:r>
              <a:rPr lang="en-US" sz="4000" dirty="0" smtClean="0"/>
              <a:t> = (Repeat Customers ÷ Total Customers) × 100</a:t>
            </a:r>
          </a:p>
          <a:p>
            <a:pPr>
              <a:buNone/>
            </a:pPr>
            <a:r>
              <a:rPr lang="en-US" sz="4000" dirty="0" smtClean="0"/>
              <a:t>👉 </a:t>
            </a:r>
            <a:r>
              <a:rPr lang="en-US" sz="4000" b="1" dirty="0" smtClean="0"/>
              <a:t>Example</a:t>
            </a:r>
            <a:r>
              <a:rPr lang="en-US" sz="4000" dirty="0" smtClean="0"/>
              <a:t>: Out of 1000 online orders, 910 were delivered on time.</a:t>
            </a:r>
            <a:br>
              <a:rPr lang="en-US" sz="4000" dirty="0" smtClean="0"/>
            </a:br>
            <a:r>
              <a:rPr lang="en-US" sz="4000" dirty="0" smtClean="0"/>
              <a:t>KPI = 910 ÷ 1000 × 100 = </a:t>
            </a:r>
            <a:r>
              <a:rPr lang="en-US" sz="4000" b="1" dirty="0" smtClean="0"/>
              <a:t>91% (below target 95%)</a:t>
            </a:r>
            <a:r>
              <a:rPr lang="en-US" sz="4000" dirty="0" smtClean="0"/>
              <a:t>.</a:t>
            </a:r>
          </a:p>
          <a:p>
            <a:pPr>
              <a:buNone/>
            </a:pPr>
            <a:r>
              <a:rPr lang="en-US" sz="4000" b="1" dirty="0" smtClean="0"/>
              <a:t>6. Publication (Reports &amp; Dashboards)</a:t>
            </a:r>
          </a:p>
          <a:p>
            <a:pPr>
              <a:buNone/>
            </a:pPr>
            <a:r>
              <a:rPr lang="en-US" sz="4000" dirty="0" smtClean="0"/>
              <a:t>Reports are </a:t>
            </a:r>
            <a:r>
              <a:rPr lang="en-US" sz="4000" b="1" dirty="0" smtClean="0"/>
              <a:t>published/delivered</a:t>
            </a:r>
            <a:r>
              <a:rPr lang="en-US" sz="4000" dirty="0" smtClean="0"/>
              <a:t> in various formats:</a:t>
            </a:r>
          </a:p>
          <a:p>
            <a:pPr lvl="1">
              <a:buNone/>
            </a:pPr>
            <a:r>
              <a:rPr lang="en-US" sz="4000" dirty="0" smtClean="0"/>
              <a:t>Dashboards (real-time, interactive)</a:t>
            </a:r>
          </a:p>
          <a:p>
            <a:pPr lvl="1">
              <a:buNone/>
            </a:pPr>
            <a:r>
              <a:rPr lang="en-US" sz="4000" dirty="0" smtClean="0"/>
              <a:t>PDF reports (monthly financial reports)</a:t>
            </a:r>
          </a:p>
          <a:p>
            <a:pPr lvl="1">
              <a:buNone/>
            </a:pPr>
            <a:r>
              <a:rPr lang="en-US" sz="4000" dirty="0" smtClean="0"/>
              <a:t>Emails (daily sales summary to store managers)</a:t>
            </a:r>
          </a:p>
          <a:p>
            <a:pPr lvl="1">
              <a:buNone/>
            </a:pPr>
            <a:r>
              <a:rPr lang="en-US" sz="4000" dirty="0" smtClean="0"/>
              <a:t>Intranet portals (self-service BI tools like Power BI/Tableau).</a:t>
            </a:r>
          </a:p>
          <a:p>
            <a:pPr>
              <a:buNone/>
            </a:pPr>
            <a:r>
              <a:rPr lang="en-US" sz="4000" dirty="0" smtClean="0"/>
              <a:t>👉 </a:t>
            </a:r>
            <a:r>
              <a:rPr lang="en-US" sz="4000" b="1" dirty="0" smtClean="0"/>
              <a:t>Example</a:t>
            </a:r>
            <a:r>
              <a:rPr lang="en-US" sz="4000" dirty="0" smtClean="0"/>
              <a:t>:</a:t>
            </a:r>
          </a:p>
          <a:p>
            <a:pPr>
              <a:buNone/>
            </a:pPr>
            <a:r>
              <a:rPr lang="en-US" sz="4000" dirty="0" smtClean="0"/>
              <a:t>Store Manager gets a </a:t>
            </a:r>
            <a:r>
              <a:rPr lang="en-US" sz="4000" b="1" dirty="0" smtClean="0"/>
              <a:t>daily sales email</a:t>
            </a:r>
            <a:r>
              <a:rPr lang="en-US" sz="4000" dirty="0" smtClean="0"/>
              <a:t>.</a:t>
            </a:r>
          </a:p>
          <a:p>
            <a:pPr>
              <a:buNone/>
            </a:pPr>
            <a:r>
              <a:rPr lang="en-US" sz="4000" dirty="0" smtClean="0"/>
              <a:t>CEO opens a </a:t>
            </a:r>
            <a:r>
              <a:rPr lang="en-US" sz="4000" b="1" dirty="0" smtClean="0"/>
              <a:t>dashboard</a:t>
            </a:r>
            <a:r>
              <a:rPr lang="en-US" sz="4000" dirty="0" smtClean="0"/>
              <a:t> on mobile showing revenue, profit, complaints.</a:t>
            </a:r>
          </a:p>
          <a:p>
            <a:pPr>
              <a:buNone/>
            </a:pPr>
            <a:r>
              <a:rPr lang="en-US" sz="4000" b="1" dirty="0" smtClean="0"/>
              <a:t>7. Assurance (Quality &amp; Governance)</a:t>
            </a:r>
          </a:p>
          <a:p>
            <a:pPr>
              <a:buNone/>
            </a:pPr>
            <a:r>
              <a:rPr lang="en-US" sz="4000" dirty="0" smtClean="0"/>
              <a:t>Ensure the report is:</a:t>
            </a:r>
          </a:p>
          <a:p>
            <a:pPr lvl="1">
              <a:buNone/>
            </a:pPr>
            <a:r>
              <a:rPr lang="en-US" sz="4000" b="1" dirty="0" smtClean="0"/>
              <a:t>Accurate</a:t>
            </a:r>
            <a:r>
              <a:rPr lang="en-US" sz="4000" dirty="0" smtClean="0"/>
              <a:t> (no missing/duplicate data)</a:t>
            </a:r>
          </a:p>
          <a:p>
            <a:pPr lvl="1">
              <a:buNone/>
            </a:pPr>
            <a:r>
              <a:rPr lang="en-US" sz="4000" b="1" dirty="0" smtClean="0"/>
              <a:t>Timely</a:t>
            </a:r>
            <a:r>
              <a:rPr lang="en-US" sz="4000" dirty="0" smtClean="0"/>
              <a:t> (data is up-to-date)</a:t>
            </a:r>
          </a:p>
          <a:p>
            <a:pPr lvl="1">
              <a:buNone/>
            </a:pPr>
            <a:r>
              <a:rPr lang="en-US" sz="4000" b="1" dirty="0" smtClean="0"/>
              <a:t>Secure</a:t>
            </a:r>
            <a:r>
              <a:rPr lang="en-US" sz="4000" dirty="0" smtClean="0"/>
              <a:t> (right people only; e.g., HR salary data hidden from others)</a:t>
            </a:r>
          </a:p>
          <a:p>
            <a:pPr lvl="1">
              <a:buNone/>
            </a:pPr>
            <a:r>
              <a:rPr lang="en-US" sz="4000" b="1" dirty="0" smtClean="0"/>
              <a:t>Governed</a:t>
            </a:r>
            <a:r>
              <a:rPr lang="en-US" sz="4000" dirty="0" smtClean="0"/>
              <a:t> (audit logs, compliance).</a:t>
            </a:r>
          </a:p>
          <a:p>
            <a:pPr>
              <a:buNone/>
            </a:pPr>
            <a:r>
              <a:rPr lang="en-US" sz="4000" dirty="0" smtClean="0"/>
              <a:t>👉 </a:t>
            </a:r>
            <a:r>
              <a:rPr lang="en-US" sz="4000" b="1" dirty="0" smtClean="0"/>
              <a:t>Example</a:t>
            </a:r>
            <a:r>
              <a:rPr lang="en-US" sz="4000" dirty="0" smtClean="0"/>
              <a:t>:</a:t>
            </a:r>
          </a:p>
          <a:p>
            <a:pPr>
              <a:buNone/>
            </a:pPr>
            <a:r>
              <a:rPr lang="en-US" sz="4000" dirty="0" smtClean="0"/>
              <a:t>Finance team double-checks that quarterly revenue matches both ERP and BI reports.</a:t>
            </a:r>
          </a:p>
          <a:p>
            <a:pPr>
              <a:buNone/>
            </a:pPr>
            <a:r>
              <a:rPr lang="en-US" sz="4000" dirty="0" smtClean="0"/>
              <a:t>HR dashboards allow only HR managers to see salary details.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/>
              <a:t>Data </a:t>
            </a:r>
            <a:r>
              <a:rPr lang="en-US" b="1" dirty="0" err="1" smtClean="0"/>
              <a:t>vs</a:t>
            </a:r>
            <a:r>
              <a:rPr lang="en-US" b="1" dirty="0" smtClean="0"/>
              <a:t> Information Visualization</a:t>
            </a:r>
          </a:p>
          <a:p>
            <a:pPr>
              <a:buNone/>
            </a:pPr>
            <a:r>
              <a:rPr lang="en-US" b="1" dirty="0" smtClean="0"/>
              <a:t>Data</a:t>
            </a:r>
            <a:r>
              <a:rPr lang="en-US" dirty="0" smtClean="0"/>
              <a:t> = raw numbers.</a:t>
            </a:r>
            <a:br>
              <a:rPr lang="en-US" dirty="0" smtClean="0"/>
            </a:br>
            <a:r>
              <a:rPr lang="en-US" dirty="0" smtClean="0"/>
              <a:t>👉 Example: 250, 300, 500 (sales values).</a:t>
            </a:r>
          </a:p>
          <a:p>
            <a:pPr>
              <a:buNone/>
            </a:pPr>
            <a:r>
              <a:rPr lang="en-US" b="1" dirty="0" smtClean="0"/>
              <a:t>Information</a:t>
            </a:r>
            <a:r>
              <a:rPr lang="en-US" dirty="0" smtClean="0"/>
              <a:t> = meaning from data.</a:t>
            </a:r>
            <a:br>
              <a:rPr lang="en-US" dirty="0" smtClean="0"/>
            </a:br>
            <a:r>
              <a:rPr lang="en-US" dirty="0" smtClean="0"/>
              <a:t>👉 Example: “Sales are increasing from 250 → 500.”</a:t>
            </a:r>
          </a:p>
          <a:p>
            <a:pPr>
              <a:buNone/>
            </a:pPr>
            <a:r>
              <a:rPr lang="en-US" b="1" dirty="0" smtClean="0"/>
              <a:t>Data Visualization</a:t>
            </a:r>
            <a:r>
              <a:rPr lang="en-US" dirty="0" smtClean="0"/>
              <a:t> = showing information with </a:t>
            </a:r>
            <a:r>
              <a:rPr lang="en-US" b="1" dirty="0" smtClean="0"/>
              <a:t>pictures</a:t>
            </a:r>
            <a:r>
              <a:rPr lang="en-US" dirty="0" smtClean="0"/>
              <a:t> (charts/graphs).</a:t>
            </a:r>
            <a:br>
              <a:rPr lang="en-US" dirty="0" smtClean="0"/>
            </a:br>
            <a:r>
              <a:rPr lang="en-US" dirty="0" smtClean="0"/>
              <a:t>👉 Example: A </a:t>
            </a:r>
            <a:r>
              <a:rPr lang="en-US" b="1" dirty="0" smtClean="0"/>
              <a:t>line graph</a:t>
            </a:r>
            <a:r>
              <a:rPr lang="en-US" dirty="0" smtClean="0"/>
              <a:t> showing sales growth.</a:t>
            </a:r>
          </a:p>
          <a:p>
            <a:pPr>
              <a:buNone/>
            </a:pPr>
            <a:r>
              <a:rPr lang="en-US" b="1" dirty="0" smtClean="0"/>
              <a:t>Why We Use Visualization</a:t>
            </a:r>
          </a:p>
          <a:p>
            <a:pPr>
              <a:buNone/>
            </a:pPr>
            <a:r>
              <a:rPr lang="en-US" dirty="0" smtClean="0"/>
              <a:t>Easy to </a:t>
            </a:r>
            <a:r>
              <a:rPr lang="en-US" b="1" dirty="0" smtClean="0"/>
              <a:t>see patterns and trends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Saves time (one chart instead of 10 pages).</a:t>
            </a:r>
          </a:p>
          <a:p>
            <a:pPr>
              <a:buNone/>
            </a:pPr>
            <a:r>
              <a:rPr lang="en-US" dirty="0" smtClean="0"/>
              <a:t>Helps in </a:t>
            </a:r>
            <a:r>
              <a:rPr lang="en-US" b="1" dirty="0" smtClean="0"/>
              <a:t>better decisions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/>
              <a:t>Types of Visuals in Business</a:t>
            </a:r>
          </a:p>
          <a:p>
            <a:pPr>
              <a:buNone/>
            </a:pPr>
            <a:r>
              <a:rPr lang="en-US" b="1" dirty="0" smtClean="0"/>
              <a:t>Charts/Graphs</a:t>
            </a:r>
            <a:r>
              <a:rPr lang="en-US" dirty="0" smtClean="0"/>
              <a:t> → bar, line, pie.</a:t>
            </a:r>
          </a:p>
          <a:p>
            <a:pPr>
              <a:buNone/>
            </a:pPr>
            <a:r>
              <a:rPr lang="en-US" b="1" dirty="0" smtClean="0"/>
              <a:t>Scorecards</a:t>
            </a:r>
            <a:r>
              <a:rPr lang="en-US" dirty="0" smtClean="0"/>
              <a:t> → show KPI numbers (like report card).</a:t>
            </a:r>
          </a:p>
          <a:p>
            <a:pPr>
              <a:buNone/>
            </a:pPr>
            <a:r>
              <a:rPr lang="en-US" b="1" dirty="0" smtClean="0"/>
              <a:t>Dashboards</a:t>
            </a:r>
            <a:r>
              <a:rPr lang="en-US" dirty="0" smtClean="0"/>
              <a:t> → one page with many visuals (for managers).</a:t>
            </a:r>
          </a:p>
          <a:p>
            <a:pPr>
              <a:buNone/>
            </a:pPr>
            <a:r>
              <a:rPr lang="en-US" b="1" dirty="0" smtClean="0"/>
              <a:t>Example</a:t>
            </a:r>
          </a:p>
          <a:p>
            <a:pPr>
              <a:buNone/>
            </a:pPr>
            <a:r>
              <a:rPr lang="en-US" dirty="0" smtClean="0"/>
              <a:t>Supermarket Manager wants to know:</a:t>
            </a:r>
          </a:p>
          <a:p>
            <a:pPr>
              <a:buNone/>
            </a:pPr>
            <a:r>
              <a:rPr lang="en-US" dirty="0" smtClean="0"/>
              <a:t>Which product sells the most? → Bar chart.</a:t>
            </a:r>
          </a:p>
          <a:p>
            <a:pPr>
              <a:buNone/>
            </a:pPr>
            <a:r>
              <a:rPr lang="en-US" dirty="0" smtClean="0"/>
              <a:t>How sales change daily? → Line chart.</a:t>
            </a:r>
          </a:p>
          <a:p>
            <a:pPr>
              <a:buNone/>
            </a:pPr>
            <a:r>
              <a:rPr lang="en-US" dirty="0" smtClean="0"/>
              <a:t>% of complaints? → Pie chart.</a:t>
            </a:r>
          </a:p>
          <a:p>
            <a:pPr>
              <a:buNone/>
            </a:pPr>
            <a:r>
              <a:rPr lang="en-US" dirty="0" smtClean="0"/>
              <a:t>Instead of reading 1,000 rows of sales data, the manager sees </a:t>
            </a:r>
            <a:r>
              <a:rPr lang="en-US" b="1" dirty="0" smtClean="0"/>
              <a:t>3 easy visuals</a:t>
            </a:r>
            <a:r>
              <a:rPr lang="en-US" dirty="0" smtClean="0"/>
              <a:t> → can decide faster.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2057400"/>
            <a:ext cx="7772400" cy="3586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Different Types of Charts and Graphs</a:t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 smtClean="0"/>
              <a:t>Charts and graphs help us </a:t>
            </a:r>
            <a:r>
              <a:rPr lang="en-US" b="1" dirty="0" smtClean="0"/>
              <a:t>understand data visually</a:t>
            </a:r>
            <a:r>
              <a:rPr lang="en-US" dirty="0" smtClean="0"/>
              <a:t>. Each type is best for a specific purpose.</a:t>
            </a:r>
          </a:p>
          <a:p>
            <a:pPr>
              <a:buNone/>
            </a:pPr>
            <a:r>
              <a:rPr lang="en-US" dirty="0" smtClean="0"/>
              <a:t>Basic Charts</a:t>
            </a:r>
          </a:p>
          <a:p>
            <a:pPr>
              <a:buNone/>
            </a:pPr>
            <a:r>
              <a:rPr lang="en-US" b="1" dirty="0" smtClean="0"/>
              <a:t>1. Line Chart</a:t>
            </a:r>
          </a:p>
          <a:p>
            <a:pPr>
              <a:buNone/>
            </a:pPr>
            <a:r>
              <a:rPr lang="en-US" b="1" dirty="0" smtClean="0"/>
              <a:t>Use</a:t>
            </a:r>
            <a:r>
              <a:rPr lang="en-US" dirty="0" smtClean="0"/>
              <a:t>: Shows trends over time.</a:t>
            </a:r>
          </a:p>
          <a:p>
            <a:pPr>
              <a:buNone/>
            </a:pPr>
            <a:r>
              <a:rPr lang="en-US" b="1" dirty="0" smtClean="0"/>
              <a:t>Example</a:t>
            </a:r>
            <a:r>
              <a:rPr lang="en-US" dirty="0" smtClean="0"/>
              <a:t>: A retail store tracks </a:t>
            </a:r>
            <a:r>
              <a:rPr lang="en-US" b="1" dirty="0" smtClean="0"/>
              <a:t>monthly sales</a:t>
            </a:r>
            <a:r>
              <a:rPr lang="en-US" dirty="0" smtClean="0"/>
              <a:t> for 12 months. The line goes up during festival seasons and down in off-seasons → this helps managers see sales patterns.</a:t>
            </a:r>
          </a:p>
          <a:p>
            <a:pPr>
              <a:buNone/>
            </a:pPr>
            <a:r>
              <a:rPr lang="en-US" b="1" dirty="0" smtClean="0"/>
              <a:t>2. Bar Chart</a:t>
            </a:r>
          </a:p>
          <a:p>
            <a:pPr>
              <a:buNone/>
            </a:pPr>
            <a:r>
              <a:rPr lang="en-US" b="1" dirty="0" smtClean="0"/>
              <a:t>Use</a:t>
            </a:r>
            <a:r>
              <a:rPr lang="en-US" dirty="0" smtClean="0"/>
              <a:t>: Compare categories.</a:t>
            </a:r>
          </a:p>
          <a:p>
            <a:pPr>
              <a:buNone/>
            </a:pPr>
            <a:r>
              <a:rPr lang="en-US" b="1" dirty="0" smtClean="0"/>
              <a:t>Example</a:t>
            </a:r>
            <a:r>
              <a:rPr lang="en-US" dirty="0" smtClean="0"/>
              <a:t>: An HR department compares the </a:t>
            </a:r>
            <a:r>
              <a:rPr lang="en-US" b="1" dirty="0" smtClean="0"/>
              <a:t>number of employees in each department</a:t>
            </a:r>
            <a:r>
              <a:rPr lang="en-US" dirty="0" smtClean="0"/>
              <a:t> (Sales = 40, Marketing = 25, IT = 50). A bar chart makes it easy to see IT has the highest count.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sz="3400" b="1" dirty="0" smtClean="0"/>
              <a:t>3. Pie Chart</a:t>
            </a:r>
          </a:p>
          <a:p>
            <a:pPr>
              <a:buNone/>
            </a:pPr>
            <a:r>
              <a:rPr lang="en-US" sz="3400" b="1" dirty="0" smtClean="0"/>
              <a:t>Use</a:t>
            </a:r>
            <a:r>
              <a:rPr lang="en-US" sz="3400" dirty="0" smtClean="0"/>
              <a:t>: Show proportions (percentages of a whole).</a:t>
            </a:r>
          </a:p>
          <a:p>
            <a:pPr>
              <a:buNone/>
            </a:pPr>
            <a:r>
              <a:rPr lang="en-US" sz="3400" b="1" dirty="0" smtClean="0"/>
              <a:t>Example</a:t>
            </a:r>
            <a:r>
              <a:rPr lang="en-US" sz="3400" dirty="0" smtClean="0"/>
              <a:t>: A company’s </a:t>
            </a:r>
            <a:r>
              <a:rPr lang="en-US" sz="3400" b="1" dirty="0" smtClean="0"/>
              <a:t>advertising budget</a:t>
            </a:r>
            <a:r>
              <a:rPr lang="en-US" sz="3400" dirty="0" smtClean="0"/>
              <a:t> split → TV (40%), Online (35%), Print (15%), Radio (10%). A pie chart shows the share of each.</a:t>
            </a:r>
          </a:p>
          <a:p>
            <a:pPr>
              <a:buNone/>
            </a:pPr>
            <a:r>
              <a:rPr lang="en-US" sz="3400" b="1" dirty="0" smtClean="0"/>
              <a:t>4. Scatter Plot</a:t>
            </a:r>
          </a:p>
          <a:p>
            <a:pPr>
              <a:buNone/>
            </a:pPr>
            <a:r>
              <a:rPr lang="en-US" sz="3400" b="1" dirty="0" smtClean="0"/>
              <a:t>Use</a:t>
            </a:r>
            <a:r>
              <a:rPr lang="en-US" sz="3400" dirty="0" smtClean="0"/>
              <a:t>: Show relationships between two variables.</a:t>
            </a:r>
          </a:p>
          <a:p>
            <a:pPr>
              <a:buNone/>
            </a:pPr>
            <a:r>
              <a:rPr lang="en-US" sz="3400" b="1" dirty="0" smtClean="0"/>
              <a:t>Example</a:t>
            </a:r>
            <a:r>
              <a:rPr lang="en-US" sz="3400" dirty="0" smtClean="0"/>
              <a:t>: A hospital plots </a:t>
            </a:r>
            <a:r>
              <a:rPr lang="en-US" sz="3400" b="1" dirty="0" smtClean="0"/>
              <a:t>patient age vs. blood pressure</a:t>
            </a:r>
            <a:r>
              <a:rPr lang="en-US" sz="3400" dirty="0" smtClean="0"/>
              <a:t>. The scatter plot may show older patients generally have higher blood pressure.</a:t>
            </a:r>
          </a:p>
          <a:p>
            <a:pPr>
              <a:buNone/>
            </a:pPr>
            <a:r>
              <a:rPr lang="en-US" sz="3400" b="1" dirty="0" smtClean="0"/>
              <a:t>5. Bubble Chart</a:t>
            </a:r>
          </a:p>
          <a:p>
            <a:pPr>
              <a:buNone/>
            </a:pPr>
            <a:r>
              <a:rPr lang="en-US" sz="3400" b="1" dirty="0" smtClean="0"/>
              <a:t>Use</a:t>
            </a:r>
            <a:r>
              <a:rPr lang="en-US" sz="3400" dirty="0" smtClean="0"/>
              <a:t>: Like scatter plots, but with an extra variable shown by bubble size/color.</a:t>
            </a:r>
          </a:p>
          <a:p>
            <a:pPr>
              <a:buNone/>
            </a:pPr>
            <a:r>
              <a:rPr lang="en-US" sz="3400" b="1" dirty="0" smtClean="0"/>
              <a:t>Example</a:t>
            </a:r>
            <a:r>
              <a:rPr lang="en-US" sz="3400" dirty="0" smtClean="0"/>
              <a:t>: A car company plots </a:t>
            </a:r>
            <a:r>
              <a:rPr lang="en-US" sz="3400" b="1" dirty="0" smtClean="0"/>
              <a:t>price vs. mileage</a:t>
            </a:r>
            <a:r>
              <a:rPr lang="en-US" sz="3400" dirty="0" smtClean="0"/>
              <a:t>, with bubble size showing </a:t>
            </a:r>
            <a:r>
              <a:rPr lang="en-US" sz="3400" b="1" dirty="0" smtClean="0"/>
              <a:t>sales volume</a:t>
            </a:r>
            <a:r>
              <a:rPr lang="en-US" sz="3400" dirty="0" smtClean="0"/>
              <a:t>. Bigger bubbles mean popular models.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smtClean="0"/>
              <a:t>🔹 Specialized Charts and Graphs</a:t>
            </a:r>
          </a:p>
          <a:p>
            <a:pPr>
              <a:buNone/>
            </a:pPr>
            <a:r>
              <a:rPr lang="en-US" b="1" dirty="0" smtClean="0"/>
              <a:t>6. Histogram</a:t>
            </a:r>
          </a:p>
          <a:p>
            <a:pPr>
              <a:buNone/>
            </a:pPr>
            <a:r>
              <a:rPr lang="en-US" b="1" dirty="0" smtClean="0"/>
              <a:t>Use</a:t>
            </a:r>
            <a:r>
              <a:rPr lang="en-US" dirty="0" smtClean="0"/>
              <a:t>: Show frequency distribution.</a:t>
            </a:r>
          </a:p>
          <a:p>
            <a:pPr>
              <a:buNone/>
            </a:pPr>
            <a:r>
              <a:rPr lang="en-US" b="1" dirty="0" smtClean="0"/>
              <a:t>Example</a:t>
            </a:r>
            <a:r>
              <a:rPr lang="en-US" dirty="0" smtClean="0"/>
              <a:t>: A teacher shows </a:t>
            </a:r>
            <a:r>
              <a:rPr lang="en-US" b="1" dirty="0" smtClean="0"/>
              <a:t>exam scores distribution</a:t>
            </a:r>
            <a:r>
              <a:rPr lang="en-US" dirty="0" smtClean="0"/>
              <a:t> (how many students scored between 40–50, 50–60, etc.). Helps see performance spread.</a:t>
            </a:r>
          </a:p>
          <a:p>
            <a:pPr>
              <a:buNone/>
            </a:pPr>
            <a:r>
              <a:rPr lang="en-US" b="1" dirty="0" smtClean="0"/>
              <a:t>7. Gantt Chart</a:t>
            </a:r>
          </a:p>
          <a:p>
            <a:pPr>
              <a:buNone/>
            </a:pPr>
            <a:r>
              <a:rPr lang="en-US" b="1" dirty="0" smtClean="0"/>
              <a:t>Use</a:t>
            </a:r>
            <a:r>
              <a:rPr lang="en-US" dirty="0" smtClean="0"/>
              <a:t>: Show project timeline and task overlap.</a:t>
            </a:r>
          </a:p>
          <a:p>
            <a:pPr>
              <a:buNone/>
            </a:pPr>
            <a:r>
              <a:rPr lang="en-US" b="1" dirty="0" smtClean="0"/>
              <a:t>Example</a:t>
            </a:r>
            <a:r>
              <a:rPr lang="en-US" dirty="0" smtClean="0"/>
              <a:t>: A software project shows tasks → “Design (Jan), Development (Feb–Mar), Testing (Apr).” Gantt chart shows how tasks overlap.</a:t>
            </a:r>
          </a:p>
          <a:p>
            <a:pPr>
              <a:buNone/>
            </a:pPr>
            <a:r>
              <a:rPr lang="en-US" b="1" dirty="0" smtClean="0"/>
              <a:t>8. PERT Chart</a:t>
            </a:r>
          </a:p>
          <a:p>
            <a:pPr>
              <a:buNone/>
            </a:pPr>
            <a:r>
              <a:rPr lang="en-US" b="1" dirty="0" smtClean="0"/>
              <a:t>Use</a:t>
            </a:r>
            <a:r>
              <a:rPr lang="en-US" dirty="0" smtClean="0"/>
              <a:t>: Show project activities and dependencies.</a:t>
            </a:r>
          </a:p>
          <a:p>
            <a:pPr>
              <a:buNone/>
            </a:pPr>
            <a:r>
              <a:rPr lang="en-US" b="1" dirty="0" smtClean="0"/>
              <a:t>Example</a:t>
            </a:r>
            <a:r>
              <a:rPr lang="en-US" dirty="0" smtClean="0"/>
              <a:t>: In event planning, "Book Venue → Arrange Catering → Send Invitations." PERT chart shows what must be completed first.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248400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b="1" dirty="0" smtClean="0"/>
              <a:t>9. Geographic Map</a:t>
            </a:r>
          </a:p>
          <a:p>
            <a:pPr>
              <a:buNone/>
            </a:pPr>
            <a:r>
              <a:rPr lang="en-US" b="1" dirty="0" smtClean="0"/>
              <a:t>Use</a:t>
            </a:r>
            <a:r>
              <a:rPr lang="en-US" dirty="0" smtClean="0"/>
              <a:t>: Show data by location.</a:t>
            </a:r>
          </a:p>
          <a:p>
            <a:pPr>
              <a:buNone/>
            </a:pPr>
            <a:r>
              <a:rPr lang="en-US" b="1" dirty="0" smtClean="0"/>
              <a:t>Example</a:t>
            </a:r>
            <a:r>
              <a:rPr lang="en-US" dirty="0" smtClean="0"/>
              <a:t>: A telecom company maps </a:t>
            </a:r>
            <a:r>
              <a:rPr lang="en-US" b="1" dirty="0" smtClean="0"/>
              <a:t>network complaints by city</a:t>
            </a:r>
            <a:r>
              <a:rPr lang="en-US" dirty="0" smtClean="0"/>
              <a:t>. Red areas = high complaints.</a:t>
            </a:r>
          </a:p>
          <a:p>
            <a:pPr>
              <a:buNone/>
            </a:pPr>
            <a:r>
              <a:rPr lang="en-US" b="1" dirty="0" smtClean="0"/>
              <a:t>10. Bullet Graph</a:t>
            </a:r>
          </a:p>
          <a:p>
            <a:pPr>
              <a:buNone/>
            </a:pPr>
            <a:r>
              <a:rPr lang="en-US" b="1" dirty="0" smtClean="0"/>
              <a:t>Use</a:t>
            </a:r>
            <a:r>
              <a:rPr lang="en-US" dirty="0" smtClean="0"/>
              <a:t>: Show progress toward a goal.</a:t>
            </a:r>
          </a:p>
          <a:p>
            <a:pPr>
              <a:buNone/>
            </a:pPr>
            <a:r>
              <a:rPr lang="en-US" b="1" dirty="0" smtClean="0"/>
              <a:t>Example</a:t>
            </a:r>
            <a:r>
              <a:rPr lang="en-US" dirty="0" smtClean="0"/>
              <a:t>: A salesperson’s </a:t>
            </a:r>
            <a:r>
              <a:rPr lang="en-US" b="1" dirty="0" smtClean="0"/>
              <a:t>target = 1,00,000, actual = 85,000</a:t>
            </a:r>
            <a:r>
              <a:rPr lang="en-US" dirty="0" smtClean="0"/>
              <a:t>. A bullet graph shows actual bar vs. target line.</a:t>
            </a:r>
          </a:p>
          <a:p>
            <a:pPr>
              <a:buNone/>
            </a:pPr>
            <a:r>
              <a:rPr lang="en-US" b="1" dirty="0" smtClean="0"/>
              <a:t>11. Heat Map</a:t>
            </a:r>
          </a:p>
          <a:p>
            <a:pPr>
              <a:buNone/>
            </a:pPr>
            <a:r>
              <a:rPr lang="en-US" b="1" dirty="0" smtClean="0"/>
              <a:t>Use</a:t>
            </a:r>
            <a:r>
              <a:rPr lang="en-US" dirty="0" smtClean="0"/>
              <a:t>: Compare values using color intensity.</a:t>
            </a:r>
          </a:p>
          <a:p>
            <a:pPr>
              <a:buNone/>
            </a:pPr>
            <a:r>
              <a:rPr lang="en-US" b="1" dirty="0" smtClean="0"/>
              <a:t>Example</a:t>
            </a:r>
            <a:r>
              <a:rPr lang="en-US" dirty="0" smtClean="0"/>
              <a:t>: An e-commerce company tracks </a:t>
            </a:r>
            <a:r>
              <a:rPr lang="en-US" b="1" dirty="0" smtClean="0"/>
              <a:t>sales by product category vs. region</a:t>
            </a:r>
            <a:r>
              <a:rPr lang="en-US" dirty="0" smtClean="0"/>
              <a:t>. Dark green = high sales, light yellow = low sales.</a:t>
            </a:r>
          </a:p>
          <a:p>
            <a:pPr>
              <a:buNone/>
            </a:pPr>
            <a:r>
              <a:rPr lang="en-US" b="1" dirty="0" smtClean="0"/>
              <a:t>12. Highlight Table</a:t>
            </a:r>
          </a:p>
          <a:p>
            <a:pPr>
              <a:buNone/>
            </a:pPr>
            <a:r>
              <a:rPr lang="en-US" b="1" dirty="0" smtClean="0"/>
              <a:t>Use</a:t>
            </a:r>
            <a:r>
              <a:rPr lang="en-US" dirty="0" smtClean="0"/>
              <a:t>: Like heat map but also shows numbers.</a:t>
            </a:r>
          </a:p>
          <a:p>
            <a:pPr>
              <a:buNone/>
            </a:pPr>
            <a:r>
              <a:rPr lang="en-US" b="1" dirty="0" smtClean="0"/>
              <a:t>Example</a:t>
            </a:r>
            <a:r>
              <a:rPr lang="en-US" dirty="0" smtClean="0"/>
              <a:t>: A table shows </a:t>
            </a:r>
            <a:r>
              <a:rPr lang="en-US" b="1" dirty="0" smtClean="0"/>
              <a:t>monthly sales by region</a:t>
            </a:r>
            <a:r>
              <a:rPr lang="en-US" dirty="0" smtClean="0"/>
              <a:t> with both numbers and shading (e.g., ₹10,000 with dark green, ₹2,000 with light red).</a:t>
            </a:r>
          </a:p>
          <a:p>
            <a:pPr>
              <a:buNone/>
            </a:pPr>
            <a:r>
              <a:rPr lang="en-US" b="1" dirty="0" smtClean="0"/>
              <a:t>13. Tree Map</a:t>
            </a:r>
          </a:p>
          <a:p>
            <a:pPr>
              <a:buNone/>
            </a:pPr>
            <a:r>
              <a:rPr lang="en-US" b="1" dirty="0" smtClean="0"/>
              <a:t>Use</a:t>
            </a:r>
            <a:r>
              <a:rPr lang="en-US" dirty="0" smtClean="0"/>
              <a:t>: Show hierarchical data in rectangles.</a:t>
            </a:r>
          </a:p>
          <a:p>
            <a:pPr>
              <a:buNone/>
            </a:pPr>
            <a:r>
              <a:rPr lang="en-US" b="1" dirty="0" smtClean="0"/>
              <a:t>Example</a:t>
            </a:r>
            <a:r>
              <a:rPr lang="en-US" dirty="0" smtClean="0"/>
              <a:t>: A company’s </a:t>
            </a:r>
            <a:r>
              <a:rPr lang="en-US" b="1" dirty="0" smtClean="0"/>
              <a:t>revenue by product → sub-category</a:t>
            </a:r>
            <a:r>
              <a:rPr lang="en-US" dirty="0" smtClean="0"/>
              <a:t>. Larger rectangles = higher revenue. IT products may dominate, while stationery is smaller.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Emergence of Data </a:t>
            </a:r>
            <a:r>
              <a:rPr lang="en-US" dirty="0" smtClean="0"/>
              <a:t>Visualization &amp; Visual </a:t>
            </a:r>
            <a:r>
              <a:rPr lang="en-US" dirty="0" smtClean="0"/>
              <a:t>Analytics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US" sz="2400" b="1" dirty="0" smtClean="0"/>
              <a:t>1. The Growing Role of Data Visualization</a:t>
            </a:r>
          </a:p>
          <a:p>
            <a:pPr>
              <a:buNone/>
            </a:pPr>
            <a:r>
              <a:rPr lang="en-US" sz="2400" dirty="0" smtClean="0"/>
              <a:t>Visualization tools (like Tableau, </a:t>
            </a:r>
            <a:r>
              <a:rPr lang="en-US" sz="2400" dirty="0" err="1" smtClean="0"/>
              <a:t>Qlik</a:t>
            </a:r>
            <a:r>
              <a:rPr lang="en-US" sz="2400" dirty="0" smtClean="0"/>
              <a:t>, Power BI, SAS VA) help convert </a:t>
            </a:r>
            <a:r>
              <a:rPr lang="en-US" sz="2400" b="1" dirty="0" smtClean="0"/>
              <a:t>raw data → clear stories</a:t>
            </a:r>
            <a:r>
              <a:rPr lang="en-US" sz="2400" dirty="0" smtClean="0"/>
              <a:t>.</a:t>
            </a:r>
          </a:p>
          <a:p>
            <a:pPr>
              <a:buNone/>
            </a:pPr>
            <a:r>
              <a:rPr lang="en-US" sz="2400" dirty="0" smtClean="0"/>
              <a:t>They make it easy to see </a:t>
            </a:r>
            <a:r>
              <a:rPr lang="en-US" sz="2400" b="1" dirty="0" smtClean="0"/>
              <a:t>trends, comparisons, and hidden patterns</a:t>
            </a:r>
            <a:r>
              <a:rPr lang="en-US" sz="2400" dirty="0" smtClean="0"/>
              <a:t>.</a:t>
            </a:r>
          </a:p>
          <a:p>
            <a:pPr>
              <a:buNone/>
            </a:pPr>
            <a:r>
              <a:rPr lang="en-US" sz="2400" dirty="0" smtClean="0"/>
              <a:t>🛒 </a:t>
            </a:r>
            <a:r>
              <a:rPr lang="en-US" sz="2400" b="1" dirty="0" smtClean="0"/>
              <a:t>Simple Example: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Imagine you run a supermarket:</a:t>
            </a:r>
          </a:p>
          <a:p>
            <a:pPr>
              <a:buNone/>
            </a:pPr>
            <a:r>
              <a:rPr lang="en-US" sz="2400" dirty="0" smtClean="0"/>
              <a:t>Raw data: A table with 12 months of sales numbers. (Looks boring and hard to read).</a:t>
            </a:r>
          </a:p>
          <a:p>
            <a:pPr>
              <a:buNone/>
            </a:pPr>
            <a:r>
              <a:rPr lang="en-US" sz="2400" dirty="0" smtClean="0"/>
              <a:t>Visualization: A </a:t>
            </a:r>
            <a:r>
              <a:rPr lang="en-US" sz="2400" b="1" dirty="0" smtClean="0"/>
              <a:t>line chart</a:t>
            </a:r>
            <a:r>
              <a:rPr lang="en-US" sz="2400" dirty="0" smtClean="0"/>
              <a:t> of sales by month → instantly shows that sales increased in July (due to summer demand) but dropped in December.</a:t>
            </a:r>
          </a:p>
          <a:p>
            <a:pPr>
              <a:buNone/>
            </a:pPr>
            <a:r>
              <a:rPr lang="en-US" sz="2400" dirty="0" smtClean="0"/>
              <a:t>👉 Data visualization </a:t>
            </a:r>
            <a:r>
              <a:rPr lang="en-US" sz="2400" b="1" dirty="0" smtClean="0"/>
              <a:t>turns numbers into stories</a:t>
            </a:r>
            <a:r>
              <a:rPr lang="en-US" sz="2400" dirty="0" smtClean="0"/>
              <a:t>.</a:t>
            </a:r>
          </a:p>
          <a:p>
            <a:pPr>
              <a:buNone/>
            </a:pPr>
            <a:endParaRPr lang="en-US" sz="4000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b="1" dirty="0" smtClean="0"/>
              <a:t>2. Challenges in BI Visualization</a:t>
            </a:r>
          </a:p>
          <a:p>
            <a:pPr>
              <a:buNone/>
            </a:pPr>
            <a:r>
              <a:rPr lang="en-US" dirty="0" smtClean="0"/>
              <a:t>Small charts (bar, line, pie) work for small data.</a:t>
            </a:r>
          </a:p>
          <a:p>
            <a:pPr>
              <a:buNone/>
            </a:pPr>
            <a:r>
              <a:rPr lang="en-US" dirty="0" smtClean="0"/>
              <a:t>But real business data is stored in </a:t>
            </a:r>
            <a:r>
              <a:rPr lang="en-US" b="1" dirty="0" smtClean="0"/>
              <a:t>data warehouses</a:t>
            </a:r>
            <a:r>
              <a:rPr lang="en-US" dirty="0" smtClean="0"/>
              <a:t> with </a:t>
            </a:r>
            <a:r>
              <a:rPr lang="en-US" b="1" dirty="0" smtClean="0"/>
              <a:t>millions of records</a:t>
            </a:r>
            <a:r>
              <a:rPr lang="en-US" dirty="0" smtClean="0"/>
              <a:t>, across many </a:t>
            </a:r>
            <a:r>
              <a:rPr lang="en-US" b="1" dirty="0" smtClean="0"/>
              <a:t>dimensions (time, location, product)</a:t>
            </a:r>
            <a:r>
              <a:rPr lang="en-US" dirty="0" smtClean="0"/>
              <a:t> and </a:t>
            </a:r>
            <a:r>
              <a:rPr lang="en-US" b="1" dirty="0" smtClean="0"/>
              <a:t>measures (sales, profit, cost)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Showing all of this </a:t>
            </a:r>
            <a:r>
              <a:rPr lang="en-US" b="1" dirty="0" smtClean="0"/>
              <a:t>clearly in one chart is difficult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🛒 </a:t>
            </a:r>
            <a:r>
              <a:rPr lang="en-US" b="1" dirty="0" smtClean="0"/>
              <a:t>Simple Example (Amazon):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Amazon wants to analyze:</a:t>
            </a:r>
          </a:p>
          <a:p>
            <a:pPr>
              <a:buNone/>
            </a:pPr>
            <a:r>
              <a:rPr lang="en-US" dirty="0" smtClean="0"/>
              <a:t>Dimensions → </a:t>
            </a:r>
            <a:r>
              <a:rPr lang="en-US" i="1" dirty="0" smtClean="0"/>
              <a:t>Product category, Region, Time (day/month)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Measures → </a:t>
            </a:r>
            <a:r>
              <a:rPr lang="en-US" i="1" dirty="0" smtClean="0"/>
              <a:t>Revenue, Profit Margin, Orders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If you try to put all this in one </a:t>
            </a:r>
            <a:r>
              <a:rPr lang="en-US" b="1" dirty="0" smtClean="0"/>
              <a:t>bar chart</a:t>
            </a:r>
            <a:r>
              <a:rPr lang="en-US" dirty="0" smtClean="0"/>
              <a:t>, it becomes </a:t>
            </a:r>
            <a:r>
              <a:rPr lang="en-US" b="1" dirty="0" smtClean="0"/>
              <a:t>confusing and overloaded</a:t>
            </a:r>
            <a:r>
              <a:rPr lang="en-US" dirty="0" smtClean="0"/>
              <a:t>.</a:t>
            </a:r>
            <a:br>
              <a:rPr lang="en-US" dirty="0" smtClean="0"/>
            </a:br>
            <a:r>
              <a:rPr lang="en-US" dirty="0" smtClean="0"/>
              <a:t>👉 That’s why </a:t>
            </a:r>
            <a:r>
              <a:rPr lang="en-US" b="1" dirty="0" smtClean="0"/>
              <a:t>advanced visualizations</a:t>
            </a:r>
            <a:r>
              <a:rPr lang="en-US" dirty="0" smtClean="0"/>
              <a:t> like </a:t>
            </a:r>
            <a:r>
              <a:rPr lang="en-US" dirty="0" err="1" smtClean="0"/>
              <a:t>heatmaps</a:t>
            </a:r>
            <a:r>
              <a:rPr lang="en-US" dirty="0" smtClean="0"/>
              <a:t>, </a:t>
            </a:r>
            <a:r>
              <a:rPr lang="en-US" dirty="0" err="1" smtClean="0"/>
              <a:t>treemaps</a:t>
            </a:r>
            <a:r>
              <a:rPr lang="en-US" dirty="0" smtClean="0"/>
              <a:t>, or dashboards are needed.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3</a:t>
            </a:r>
            <a:r>
              <a:rPr lang="en-US" b="1" dirty="0" smtClean="0"/>
              <a:t>. Visual Analytics vs. Information Visualization</a:t>
            </a:r>
          </a:p>
          <a:p>
            <a:pPr>
              <a:buNone/>
            </a:pPr>
            <a:r>
              <a:rPr lang="en-US" b="1" dirty="0" smtClean="0"/>
              <a:t>Information Visualization</a:t>
            </a:r>
            <a:r>
              <a:rPr lang="en-US" dirty="0" smtClean="0"/>
              <a:t> → Shows </a:t>
            </a:r>
            <a:r>
              <a:rPr lang="en-US" i="1" dirty="0" smtClean="0"/>
              <a:t>What happened?</a:t>
            </a:r>
            <a:r>
              <a:rPr lang="en-US" dirty="0" smtClean="0"/>
              <a:t> or </a:t>
            </a:r>
            <a:r>
              <a:rPr lang="en-US" i="1" dirty="0" smtClean="0"/>
              <a:t>What’s happening?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Visual Analytics</a:t>
            </a:r>
            <a:r>
              <a:rPr lang="en-US" dirty="0" smtClean="0"/>
              <a:t> → Adds predictive analytics → Answers </a:t>
            </a:r>
            <a:r>
              <a:rPr lang="en-US" i="1" dirty="0" smtClean="0"/>
              <a:t>Why did it happen?</a:t>
            </a:r>
            <a:r>
              <a:rPr lang="en-US" dirty="0" smtClean="0"/>
              <a:t> and </a:t>
            </a:r>
            <a:r>
              <a:rPr lang="en-US" i="1" dirty="0" smtClean="0"/>
              <a:t>What will happen?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🛒 </a:t>
            </a:r>
            <a:r>
              <a:rPr lang="en-US" b="1" dirty="0" smtClean="0"/>
              <a:t>Simple Example: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Visualization: A </a:t>
            </a:r>
            <a:r>
              <a:rPr lang="en-US" b="1" dirty="0" smtClean="0"/>
              <a:t>chart</a:t>
            </a:r>
            <a:r>
              <a:rPr lang="en-US" dirty="0" smtClean="0"/>
              <a:t> shows sales dropped in December. (</a:t>
            </a:r>
            <a:r>
              <a:rPr lang="en-US" i="1" dirty="0" smtClean="0"/>
              <a:t>What happened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/>
              <a:t>Visual Analytics: A </a:t>
            </a:r>
            <a:r>
              <a:rPr lang="en-US" b="1" dirty="0" smtClean="0"/>
              <a:t>forecasting chart</a:t>
            </a:r>
            <a:r>
              <a:rPr lang="en-US" dirty="0" smtClean="0"/>
              <a:t> + analysis shows sales dropped </a:t>
            </a:r>
            <a:r>
              <a:rPr lang="en-US" b="1" dirty="0" smtClean="0"/>
              <a:t>because ads were reduced</a:t>
            </a:r>
            <a:r>
              <a:rPr lang="en-US" dirty="0" smtClean="0"/>
              <a:t> and predicts sales will rise in January after a new campaign. (</a:t>
            </a:r>
            <a:r>
              <a:rPr lang="en-US" i="1" dirty="0" smtClean="0"/>
              <a:t>Why &amp; What next</a:t>
            </a:r>
            <a:r>
              <a:rPr lang="en-US" dirty="0" smtClean="0"/>
              <a:t>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/>
              <a:t>4. High-Powered Visual Analytics (</a:t>
            </a:r>
            <a:r>
              <a:rPr lang="en-US" b="1" dirty="0" smtClean="0"/>
              <a:t>SAS-Statistical </a:t>
            </a:r>
            <a:r>
              <a:rPr lang="en-US" b="1" dirty="0" smtClean="0"/>
              <a:t>Analysis System</a:t>
            </a:r>
            <a:r>
              <a:rPr lang="en-US" dirty="0" smtClean="0"/>
              <a:t>.)</a:t>
            </a:r>
            <a:endParaRPr lang="en-US" b="1" dirty="0" smtClean="0"/>
          </a:p>
          <a:p>
            <a:pPr>
              <a:buNone/>
            </a:pPr>
            <a:r>
              <a:rPr lang="en-US" dirty="0" smtClean="0"/>
              <a:t>SAS Visual Analytics is a </a:t>
            </a:r>
            <a:r>
              <a:rPr lang="en-US" b="1" dirty="0" smtClean="0"/>
              <a:t>powerful tool</a:t>
            </a:r>
            <a:r>
              <a:rPr lang="en-US" dirty="0" smtClean="0"/>
              <a:t> that handles very large datasets </a:t>
            </a:r>
            <a:r>
              <a:rPr lang="en-US" b="1" dirty="0" smtClean="0"/>
              <a:t>instantly</a:t>
            </a:r>
            <a:r>
              <a:rPr lang="en-US" dirty="0" smtClean="0"/>
              <a:t> and allows </a:t>
            </a:r>
            <a:r>
              <a:rPr lang="en-US" b="1" dirty="0" smtClean="0"/>
              <a:t>any user</a:t>
            </a:r>
            <a:r>
              <a:rPr lang="en-US" dirty="0" smtClean="0"/>
              <a:t> (not just IT experts) to explore data.</a:t>
            </a:r>
          </a:p>
          <a:p>
            <a:pPr>
              <a:buNone/>
            </a:pPr>
            <a:r>
              <a:rPr lang="en-US" dirty="0" smtClean="0"/>
              <a:t>✅ </a:t>
            </a:r>
            <a:r>
              <a:rPr lang="en-US" b="1" dirty="0" smtClean="0"/>
              <a:t>Benefits with Simple Examples: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Empower all users: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 marketing manager (not a data scientist) quickly creates a report of </a:t>
            </a:r>
            <a:r>
              <a:rPr lang="en-US" b="1" dirty="0" smtClean="0"/>
              <a:t>customer age groups</a:t>
            </a:r>
            <a:r>
              <a:rPr lang="en-US" dirty="0" smtClean="0"/>
              <a:t> buying most frequently.</a:t>
            </a:r>
          </a:p>
          <a:p>
            <a:pPr>
              <a:buNone/>
            </a:pPr>
            <a:r>
              <a:rPr lang="en-US" b="1" dirty="0" smtClean="0"/>
              <a:t>Answer complex questions quickly: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An analyst discovers that </a:t>
            </a:r>
            <a:r>
              <a:rPr lang="en-US" b="1" dirty="0" smtClean="0"/>
              <a:t>Region A’s profits are declining</a:t>
            </a:r>
            <a:r>
              <a:rPr lang="en-US" dirty="0" smtClean="0"/>
              <a:t> due to rising delivery costs.</a:t>
            </a:r>
          </a:p>
          <a:p>
            <a:pPr>
              <a:buNone/>
            </a:pPr>
            <a:r>
              <a:rPr lang="en-US" b="1" dirty="0" smtClean="0"/>
              <a:t>Improve collaboration: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 CEO checks </a:t>
            </a:r>
            <a:r>
              <a:rPr lang="en-US" b="1" dirty="0" smtClean="0"/>
              <a:t>live sales dashboards on an </a:t>
            </a:r>
            <a:r>
              <a:rPr lang="en-US" b="1" dirty="0" err="1" smtClean="0"/>
              <a:t>iPad</a:t>
            </a:r>
            <a:r>
              <a:rPr lang="en-US" dirty="0" smtClean="0"/>
              <a:t> while traveling and shares insights with managers.</a:t>
            </a:r>
          </a:p>
          <a:p>
            <a:pPr>
              <a:buNone/>
            </a:pPr>
            <a:r>
              <a:rPr lang="en-US" b="1" dirty="0" smtClean="0"/>
              <a:t>Reduce IT workload: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Instead of asking IT for ad hoc reports, a sales team creates their own </a:t>
            </a:r>
            <a:r>
              <a:rPr lang="en-US" b="1" dirty="0" smtClean="0"/>
              <a:t>real-time dashboard</a:t>
            </a:r>
            <a:r>
              <a:rPr lang="en-US" dirty="0" smtClean="0"/>
              <a:t> of daily orders.</a:t>
            </a:r>
          </a:p>
          <a:p>
            <a:pPr>
              <a:buNone/>
            </a:pPr>
            <a:r>
              <a:rPr lang="en-US" b="1" dirty="0" smtClean="0"/>
              <a:t>Scalability: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 </a:t>
            </a:r>
            <a:r>
              <a:rPr lang="en-US" b="1" dirty="0" smtClean="0"/>
              <a:t>small retail startup</a:t>
            </a:r>
            <a:r>
              <a:rPr lang="en-US" dirty="0" smtClean="0"/>
              <a:t> begins with basic servers, but as it grows into a national chain, SAS can handle the bigger data smoothly.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/>
              <a:t>🏪 Scenario: A Retail Chain with 1 Million+ Monthly Transactions</a:t>
            </a:r>
          </a:p>
          <a:p>
            <a:pPr>
              <a:buNone/>
            </a:pPr>
            <a:r>
              <a:rPr lang="en-US" dirty="0" smtClean="0"/>
              <a:t>A company has many stores and generates </a:t>
            </a:r>
            <a:r>
              <a:rPr lang="en-US" b="1" dirty="0" smtClean="0"/>
              <a:t>huge amounts of sales data every month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b="1" dirty="0" smtClean="0"/>
              <a:t>1. Old Way (Excel Sheets)</a:t>
            </a:r>
          </a:p>
          <a:p>
            <a:pPr>
              <a:buNone/>
            </a:pPr>
            <a:r>
              <a:rPr lang="en-US" dirty="0" smtClean="0"/>
              <a:t>Managers receive large Excel files with rows and rows of numbers.</a:t>
            </a:r>
          </a:p>
          <a:p>
            <a:pPr>
              <a:buNone/>
            </a:pPr>
            <a:r>
              <a:rPr lang="en-US" dirty="0" smtClean="0"/>
              <a:t>They can see totals (e.g., overall monthly sales), but:</a:t>
            </a:r>
          </a:p>
          <a:p>
            <a:pPr lvl="1">
              <a:buNone/>
            </a:pPr>
            <a:r>
              <a:rPr lang="en-US" dirty="0" smtClean="0"/>
              <a:t>Hard to compare store-to-store performance.</a:t>
            </a:r>
          </a:p>
          <a:p>
            <a:pPr lvl="1">
              <a:buNone/>
            </a:pPr>
            <a:r>
              <a:rPr lang="en-US" dirty="0" smtClean="0"/>
              <a:t>Hard to spot seasonal trends.</a:t>
            </a:r>
          </a:p>
          <a:p>
            <a:pPr lvl="1">
              <a:buNone/>
            </a:pPr>
            <a:r>
              <a:rPr lang="en-US" dirty="0" smtClean="0"/>
              <a:t>Very time-consuming to analyze.</a:t>
            </a:r>
          </a:p>
          <a:p>
            <a:pPr>
              <a:buNone/>
            </a:pPr>
            <a:r>
              <a:rPr lang="en-US" dirty="0" smtClean="0"/>
              <a:t>📌 </a:t>
            </a:r>
            <a:r>
              <a:rPr lang="en-US" i="1" dirty="0" smtClean="0"/>
              <a:t>Like reading a big phone book — the information is there, but hard to see patterns.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2. With Visualization</a:t>
            </a:r>
          </a:p>
          <a:p>
            <a:pPr>
              <a:buNone/>
            </a:pPr>
            <a:r>
              <a:rPr lang="en-US" dirty="0" smtClean="0"/>
              <a:t>Instead of Excel numbers, managers get </a:t>
            </a:r>
            <a:r>
              <a:rPr lang="en-US" b="1" dirty="0" smtClean="0"/>
              <a:t>charts and dashboards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Example visuals:</a:t>
            </a:r>
          </a:p>
          <a:p>
            <a:pPr lvl="1">
              <a:buNone/>
            </a:pPr>
            <a:r>
              <a:rPr lang="en-US" b="1" dirty="0" smtClean="0"/>
              <a:t>Bar chart</a:t>
            </a:r>
            <a:r>
              <a:rPr lang="en-US" dirty="0" smtClean="0"/>
              <a:t>: Sales by store → quickly shows which stores are top/bottom performers.</a:t>
            </a:r>
          </a:p>
          <a:p>
            <a:pPr lvl="1">
              <a:buNone/>
            </a:pPr>
            <a:r>
              <a:rPr lang="en-US" b="1" dirty="0" smtClean="0"/>
              <a:t>Line chart</a:t>
            </a:r>
            <a:r>
              <a:rPr lang="en-US" dirty="0" smtClean="0"/>
              <a:t>: Sales by month → shows seasonal ups and downs.</a:t>
            </a:r>
          </a:p>
          <a:p>
            <a:pPr>
              <a:buNone/>
            </a:pPr>
            <a:r>
              <a:rPr lang="en-US" dirty="0" smtClean="0"/>
              <a:t>📌 </a:t>
            </a:r>
            <a:r>
              <a:rPr lang="en-US" i="1" dirty="0" smtClean="0"/>
              <a:t>Now, managers can instantly “see the story” in the data.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/>
              <a:t>3. With Visual Analytics (SAS Visual Analytics Example)</a:t>
            </a:r>
          </a:p>
          <a:p>
            <a:pPr>
              <a:buNone/>
            </a:pPr>
            <a:r>
              <a:rPr lang="en-US" dirty="0" smtClean="0"/>
              <a:t>This takes things to the </a:t>
            </a:r>
            <a:r>
              <a:rPr lang="en-US" b="1" dirty="0" smtClean="0"/>
              <a:t>next level</a:t>
            </a:r>
            <a:r>
              <a:rPr lang="en-US" dirty="0" smtClean="0"/>
              <a:t> by adding predictive analytics + advanced visual methods.</a:t>
            </a:r>
          </a:p>
          <a:p>
            <a:pPr>
              <a:buNone/>
            </a:pPr>
            <a:r>
              <a:rPr lang="en-US" b="1" dirty="0" smtClean="0"/>
              <a:t>Forecasting future sales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→ Example: The system predicts “ice cream sales will increase 40% in summer.”</a:t>
            </a:r>
            <a:br>
              <a:rPr lang="en-US" dirty="0" smtClean="0"/>
            </a:br>
            <a:r>
              <a:rPr lang="en-US" dirty="0" smtClean="0"/>
              <a:t>👉 Managers can </a:t>
            </a:r>
            <a:r>
              <a:rPr lang="en-US" b="1" dirty="0" smtClean="0"/>
              <a:t>stock up in advance</a:t>
            </a:r>
            <a:r>
              <a:rPr lang="en-US" dirty="0" smtClean="0"/>
              <a:t> to avoid shortages.</a:t>
            </a:r>
          </a:p>
          <a:p>
            <a:pPr>
              <a:buNone/>
            </a:pPr>
            <a:r>
              <a:rPr lang="en-US" b="1" dirty="0" smtClean="0"/>
              <a:t>Finding correlations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→ Example: Analytics shows </a:t>
            </a:r>
            <a:r>
              <a:rPr lang="en-US" b="1" dirty="0" smtClean="0"/>
              <a:t>promotions directly increase sales</a:t>
            </a:r>
            <a:r>
              <a:rPr lang="en-US" dirty="0" smtClean="0"/>
              <a:t>.</a:t>
            </a:r>
            <a:br>
              <a:rPr lang="en-US" dirty="0" smtClean="0"/>
            </a:br>
            <a:r>
              <a:rPr lang="en-US" dirty="0" smtClean="0"/>
              <a:t>👉 The marketing team learns which promotions work best.</a:t>
            </a:r>
          </a:p>
          <a:p>
            <a:pPr>
              <a:buNone/>
            </a:pPr>
            <a:r>
              <a:rPr lang="en-US" b="1" dirty="0" smtClean="0"/>
              <a:t>Interactive Dashboards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→ Example: Regional managers and the CEO can check </a:t>
            </a:r>
            <a:r>
              <a:rPr lang="en-US" b="1" dirty="0" smtClean="0"/>
              <a:t>live dashboards on tablets</a:t>
            </a:r>
            <a:r>
              <a:rPr lang="en-US" dirty="0" smtClean="0"/>
              <a:t> anytime.</a:t>
            </a:r>
            <a:br>
              <a:rPr lang="en-US" dirty="0" smtClean="0"/>
            </a:br>
            <a:r>
              <a:rPr lang="en-US" dirty="0" smtClean="0"/>
              <a:t>👉 Everyone sees the same updated data, improving collaboration and faster decisions.</a:t>
            </a:r>
          </a:p>
          <a:p>
            <a:pPr>
              <a:buNone/>
            </a:pPr>
            <a:r>
              <a:rPr lang="en-US" dirty="0" smtClean="0"/>
              <a:t>📌 </a:t>
            </a:r>
            <a:r>
              <a:rPr lang="en-US" i="1" dirty="0" smtClean="0"/>
              <a:t>Visual Analytics = not just seeing trends, but also predicting, explaining, and sharing insights.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Performance Dashboard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smtClean="0"/>
              <a:t>A </a:t>
            </a:r>
            <a:r>
              <a:rPr lang="en-US" dirty="0" smtClean="0"/>
              <a:t>screen that shows important information (KPIs) in a simple, visual way so managers can quickly understand business performance.</a:t>
            </a:r>
          </a:p>
          <a:p>
            <a:pPr>
              <a:buNone/>
            </a:pPr>
            <a:r>
              <a:rPr lang="en-US" b="1" dirty="0" smtClean="0"/>
              <a:t>Example</a:t>
            </a:r>
            <a:r>
              <a:rPr lang="en-US" dirty="0" smtClean="0"/>
              <a:t>: Imagine you are managing a </a:t>
            </a:r>
            <a:r>
              <a:rPr lang="en-US" b="1" dirty="0" smtClean="0"/>
              <a:t>supermarket chain</a:t>
            </a:r>
            <a:r>
              <a:rPr lang="en-US" dirty="0" smtClean="0"/>
              <a:t>. A dashboard could show:</a:t>
            </a:r>
          </a:p>
          <a:p>
            <a:pPr>
              <a:buNone/>
            </a:pPr>
            <a:r>
              <a:rPr lang="en-US" dirty="0" smtClean="0"/>
              <a:t>Today’s sales vs. target</a:t>
            </a:r>
          </a:p>
          <a:p>
            <a:pPr>
              <a:buNone/>
            </a:pPr>
            <a:r>
              <a:rPr lang="en-US" dirty="0" smtClean="0"/>
              <a:t>Stock availability (which items are running low)</a:t>
            </a:r>
          </a:p>
          <a:p>
            <a:pPr>
              <a:buNone/>
            </a:pPr>
            <a:r>
              <a:rPr lang="en-US" dirty="0" smtClean="0"/>
              <a:t>Customer complaints received today</a:t>
            </a:r>
          </a:p>
          <a:p>
            <a:pPr>
              <a:buNone/>
            </a:pPr>
            <a:r>
              <a:rPr lang="en-US" dirty="0" smtClean="0"/>
              <a:t>Store-wise performance on a map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/>
              <a:t>Three Layers of Information in a Dashboard</a:t>
            </a:r>
          </a:p>
          <a:p>
            <a:pPr>
              <a:buNone/>
            </a:pPr>
            <a:r>
              <a:rPr lang="en-US" b="1" dirty="0" smtClean="0"/>
              <a:t>Monitoring (overview level)</a:t>
            </a:r>
            <a:endParaRPr lang="en-US" dirty="0" smtClean="0"/>
          </a:p>
          <a:p>
            <a:pPr lvl="1">
              <a:buNone/>
            </a:pPr>
            <a:r>
              <a:rPr lang="en-US" dirty="0" smtClean="0"/>
              <a:t>Just shows if things are good or bad.</a:t>
            </a:r>
          </a:p>
          <a:p>
            <a:pPr lvl="1">
              <a:buNone/>
            </a:pPr>
            <a:r>
              <a:rPr lang="en-US" dirty="0" smtClean="0"/>
              <a:t>Example: A </a:t>
            </a:r>
            <a:r>
              <a:rPr lang="en-US" b="1" dirty="0" smtClean="0"/>
              <a:t>red signal light</a:t>
            </a:r>
            <a:r>
              <a:rPr lang="en-US" dirty="0" smtClean="0"/>
              <a:t> for “Sales below target”, green for “On target”.</a:t>
            </a:r>
          </a:p>
          <a:p>
            <a:pPr>
              <a:buNone/>
            </a:pPr>
            <a:r>
              <a:rPr lang="en-US" b="1" dirty="0" smtClean="0"/>
              <a:t>Analysis (why it happened)</a:t>
            </a:r>
            <a:endParaRPr lang="en-US" dirty="0" smtClean="0"/>
          </a:p>
          <a:p>
            <a:pPr lvl="1">
              <a:buNone/>
            </a:pPr>
            <a:r>
              <a:rPr lang="en-US" dirty="0" smtClean="0"/>
              <a:t>Lets you drill down to find reasons.</a:t>
            </a:r>
          </a:p>
          <a:p>
            <a:pPr lvl="1">
              <a:buNone/>
            </a:pPr>
            <a:r>
              <a:rPr lang="en-US" dirty="0" smtClean="0"/>
              <a:t>Example: Sales dropped → click → see it’s because “milk sales decreased due to supplier delay.”</a:t>
            </a:r>
          </a:p>
          <a:p>
            <a:pPr>
              <a:buNone/>
            </a:pPr>
            <a:r>
              <a:rPr lang="en-US" b="1" dirty="0" smtClean="0"/>
              <a:t>Management (action level)</a:t>
            </a:r>
            <a:endParaRPr lang="en-US" dirty="0" smtClean="0"/>
          </a:p>
          <a:p>
            <a:pPr lvl="1">
              <a:buNone/>
            </a:pPr>
            <a:r>
              <a:rPr lang="en-US" dirty="0" smtClean="0"/>
              <a:t>Tells you what to do next.</a:t>
            </a:r>
          </a:p>
          <a:p>
            <a:pPr lvl="1">
              <a:buNone/>
            </a:pPr>
            <a:r>
              <a:rPr lang="en-US" dirty="0" smtClean="0"/>
              <a:t>Example: The dashboard shows: “Contact supplier X immediately to restock milk.”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/>
              <a:t>Context Setting (Comparisons in Dashboards)</a:t>
            </a:r>
          </a:p>
          <a:p>
            <a:pPr>
              <a:buNone/>
            </a:pPr>
            <a:r>
              <a:rPr lang="en-US" dirty="0" smtClean="0"/>
              <a:t>Numbers should </a:t>
            </a:r>
            <a:r>
              <a:rPr lang="en-US" b="1" dirty="0" smtClean="0"/>
              <a:t>always be compared</a:t>
            </a:r>
            <a:r>
              <a:rPr lang="en-US" dirty="0" smtClean="0"/>
              <a:t> with something, otherwise they don’t make sense.</a:t>
            </a:r>
          </a:p>
          <a:p>
            <a:pPr>
              <a:buNone/>
            </a:pPr>
            <a:r>
              <a:rPr lang="en-US" b="1" dirty="0" smtClean="0"/>
              <a:t>Example</a:t>
            </a:r>
            <a:r>
              <a:rPr lang="en-US" dirty="0" smtClean="0"/>
              <a:t>:</a:t>
            </a:r>
          </a:p>
          <a:p>
            <a:pPr lvl="1">
              <a:buNone/>
            </a:pPr>
            <a:r>
              <a:rPr lang="en-US" dirty="0" smtClean="0"/>
              <a:t>Revenue = ₹5 Cr → Sounds good? Maybe not.</a:t>
            </a:r>
          </a:p>
          <a:p>
            <a:pPr lvl="1">
              <a:buNone/>
            </a:pPr>
            <a:r>
              <a:rPr lang="en-US" dirty="0" smtClean="0"/>
              <a:t>Compare with:</a:t>
            </a:r>
          </a:p>
          <a:p>
            <a:pPr lvl="2">
              <a:buNone/>
            </a:pPr>
            <a:r>
              <a:rPr lang="en-US" dirty="0" smtClean="0"/>
              <a:t>Last month (₹6 Cr) → means sales dropped.</a:t>
            </a:r>
          </a:p>
          <a:p>
            <a:pPr lvl="2">
              <a:buNone/>
            </a:pPr>
            <a:r>
              <a:rPr lang="en-US" dirty="0" smtClean="0"/>
              <a:t>Target (₹5.5 Cr) → means below goal.</a:t>
            </a:r>
          </a:p>
          <a:p>
            <a:pPr lvl="2">
              <a:buNone/>
            </a:pPr>
            <a:r>
              <a:rPr lang="en-US" dirty="0" smtClean="0"/>
              <a:t>Competitor (₹7 Cr) → means we are behind</a:t>
            </a:r>
            <a:r>
              <a:rPr lang="en-US" dirty="0" smtClean="0"/>
              <a:t>.</a:t>
            </a:r>
          </a:p>
          <a:p>
            <a:pPr lvl="2"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Visual Objects (Indicators in Dashboards)</a:t>
            </a:r>
          </a:p>
          <a:p>
            <a:pPr>
              <a:buNone/>
            </a:pPr>
            <a:r>
              <a:rPr lang="en-US" dirty="0" smtClean="0"/>
              <a:t>Dashboards use </a:t>
            </a:r>
            <a:r>
              <a:rPr lang="en-US" b="1" dirty="0" smtClean="0"/>
              <a:t>colors, arrows, and charts</a:t>
            </a:r>
            <a:r>
              <a:rPr lang="en-US" dirty="0" smtClean="0"/>
              <a:t> to show trends quickly.</a:t>
            </a:r>
          </a:p>
          <a:p>
            <a:pPr>
              <a:buNone/>
            </a:pPr>
            <a:r>
              <a:rPr lang="en-US" b="1" dirty="0" smtClean="0"/>
              <a:t>Examples</a:t>
            </a:r>
            <a:r>
              <a:rPr lang="en-US" dirty="0" smtClean="0"/>
              <a:t>:</a:t>
            </a:r>
          </a:p>
          <a:p>
            <a:pPr lvl="1">
              <a:buNone/>
            </a:pPr>
            <a:r>
              <a:rPr lang="en-US" b="1" dirty="0" smtClean="0"/>
              <a:t>Traffic lights</a:t>
            </a:r>
            <a:r>
              <a:rPr lang="en-US" dirty="0" smtClean="0"/>
              <a:t> → Green = good sales, Yellow = warning, Red = poor sales.</a:t>
            </a:r>
          </a:p>
          <a:p>
            <a:pPr lvl="1">
              <a:buNone/>
            </a:pPr>
            <a:r>
              <a:rPr lang="en-US" b="1" dirty="0" smtClean="0"/>
              <a:t>Arrows</a:t>
            </a:r>
            <a:r>
              <a:rPr lang="en-US" dirty="0" smtClean="0"/>
              <a:t> → Sales ↑ 12% this month, Customer complaints ↓ 5%.</a:t>
            </a:r>
          </a:p>
          <a:p>
            <a:pPr lvl="1">
              <a:buNone/>
            </a:pPr>
            <a:r>
              <a:rPr lang="en-US" b="1" dirty="0" smtClean="0"/>
              <a:t>Speedometer dial</a:t>
            </a:r>
            <a:r>
              <a:rPr lang="en-US" dirty="0" smtClean="0"/>
              <a:t> → “Support expenses” are in the red zone (too high).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 smtClean="0"/>
              <a:t>What to Look for in a Good Dashboard</a:t>
            </a:r>
          </a:p>
          <a:p>
            <a:pPr>
              <a:buNone/>
            </a:pPr>
            <a:r>
              <a:rPr lang="en-US" dirty="0" smtClean="0"/>
              <a:t>Combines data from different sources → e.g., sales + finance + HR in one place.</a:t>
            </a:r>
          </a:p>
          <a:p>
            <a:pPr>
              <a:buNone/>
            </a:pPr>
            <a:r>
              <a:rPr lang="en-US" dirty="0" smtClean="0"/>
              <a:t>Easy to use → anyone can understand without training.</a:t>
            </a:r>
          </a:p>
          <a:p>
            <a:pPr>
              <a:buNone/>
            </a:pPr>
            <a:r>
              <a:rPr lang="en-US" dirty="0" smtClean="0"/>
              <a:t>Allows drill-down → click “Sales” → see per region → then per store.</a:t>
            </a:r>
          </a:p>
          <a:p>
            <a:pPr>
              <a:buNone/>
            </a:pPr>
            <a:r>
              <a:rPr lang="en-US" dirty="0" smtClean="0"/>
              <a:t>Dynamic → data updates daily or in real-time.</a:t>
            </a:r>
          </a:p>
          <a:p>
            <a:pPr>
              <a:buNone/>
            </a:pPr>
            <a:r>
              <a:rPr lang="en-US" b="1" dirty="0" smtClean="0"/>
              <a:t>Example</a:t>
            </a:r>
            <a:r>
              <a:rPr lang="en-US" dirty="0" smtClean="0"/>
              <a:t>: A </a:t>
            </a:r>
            <a:r>
              <a:rPr lang="en-US" b="1" dirty="0" smtClean="0"/>
              <a:t>bank’s dashboard</a:t>
            </a:r>
            <a:r>
              <a:rPr lang="en-US" dirty="0" smtClean="0"/>
              <a:t> shows total deposits, ATM downtime, loan approvals. If ATM downtime is red, manager clicks → sees which branch → fixes it.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b="1" dirty="0" smtClean="0"/>
              <a:t>Best Practices in Dashboard Design</a:t>
            </a:r>
          </a:p>
          <a:p>
            <a:pPr>
              <a:buNone/>
            </a:pPr>
            <a:r>
              <a:rPr lang="en-US" b="1" dirty="0" smtClean="0"/>
              <a:t>Data Accuracy First</a:t>
            </a:r>
            <a:endParaRPr lang="en-US" dirty="0" smtClean="0"/>
          </a:p>
          <a:p>
            <a:pPr lvl="1">
              <a:buNone/>
            </a:pPr>
            <a:r>
              <a:rPr lang="en-US" dirty="0" smtClean="0"/>
              <a:t>Good-looking charts are useless if data is wrong.</a:t>
            </a:r>
          </a:p>
          <a:p>
            <a:pPr lvl="1">
              <a:buNone/>
            </a:pPr>
            <a:r>
              <a:rPr lang="en-US" dirty="0" smtClean="0"/>
              <a:t>Example: If “Customer Complaints = 0” but system failed to record complaints → dashboard misleads.</a:t>
            </a:r>
          </a:p>
          <a:p>
            <a:pPr>
              <a:buNone/>
            </a:pPr>
            <a:r>
              <a:rPr lang="en-US" b="1" dirty="0" smtClean="0"/>
              <a:t>Benchmark with Industry Standards</a:t>
            </a:r>
            <a:endParaRPr lang="en-US" dirty="0" smtClean="0"/>
          </a:p>
          <a:p>
            <a:pPr lvl="1">
              <a:buNone/>
            </a:pPr>
            <a:r>
              <a:rPr lang="en-US" dirty="0" smtClean="0"/>
              <a:t>Example: Your call center answers 85% calls in 1 min. Industry best = 95%. → Helps know if you’re really good.</a:t>
            </a:r>
          </a:p>
          <a:p>
            <a:pPr>
              <a:buNone/>
            </a:pPr>
            <a:r>
              <a:rPr lang="en-US" b="1" dirty="0" smtClean="0"/>
              <a:t>Contextual Metadata</a:t>
            </a:r>
            <a:endParaRPr lang="en-US" dirty="0" smtClean="0"/>
          </a:p>
          <a:p>
            <a:pPr lvl="1">
              <a:buNone/>
            </a:pPr>
            <a:r>
              <a:rPr lang="en-US" dirty="0" smtClean="0"/>
              <a:t>Show where data comes from, when it was last updated.</a:t>
            </a:r>
          </a:p>
          <a:p>
            <a:pPr lvl="1">
              <a:buNone/>
            </a:pPr>
            <a:r>
              <a:rPr lang="en-US" dirty="0" smtClean="0"/>
              <a:t>Example: Sales data last refreshed “10 </a:t>
            </a:r>
            <a:r>
              <a:rPr lang="en-US" dirty="0" err="1" smtClean="0"/>
              <a:t>mins</a:t>
            </a:r>
            <a:r>
              <a:rPr lang="en-US" dirty="0" smtClean="0"/>
              <a:t> ago” </a:t>
            </a:r>
            <a:r>
              <a:rPr lang="en-US" dirty="0" err="1" smtClean="0"/>
              <a:t>vs</a:t>
            </a:r>
            <a:r>
              <a:rPr lang="en-US" dirty="0" smtClean="0"/>
              <a:t> “2 weeks ago” makes a big difference.</a:t>
            </a:r>
          </a:p>
          <a:p>
            <a:pPr>
              <a:buNone/>
            </a:pPr>
            <a:r>
              <a:rPr lang="en-US" b="1" dirty="0" smtClean="0"/>
              <a:t>Usability Testing</a:t>
            </a:r>
            <a:endParaRPr lang="en-US" dirty="0" smtClean="0"/>
          </a:p>
          <a:p>
            <a:pPr lvl="1">
              <a:buNone/>
            </a:pPr>
            <a:r>
              <a:rPr lang="en-US" dirty="0" smtClean="0"/>
              <a:t>Dashboards should be easy for business people, not just IT experts.</a:t>
            </a:r>
          </a:p>
          <a:p>
            <a:pPr lvl="1">
              <a:buNone/>
            </a:pPr>
            <a:r>
              <a:rPr lang="en-US" dirty="0" smtClean="0"/>
              <a:t>Example: Sales team rejects a dashboard with too many complex graphs → better to show simple KPIs with drill-down option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b="1" dirty="0" smtClean="0"/>
              <a:t>Rank Alerts &amp; Exceptions</a:t>
            </a:r>
            <a:endParaRPr lang="en-US" dirty="0" smtClean="0"/>
          </a:p>
          <a:p>
            <a:pPr indent="-58738">
              <a:buNone/>
            </a:pPr>
            <a:r>
              <a:rPr lang="en-US" dirty="0" smtClean="0"/>
              <a:t>Only show </a:t>
            </a:r>
            <a:r>
              <a:rPr lang="en-US" b="1" dirty="0" smtClean="0"/>
              <a:t>important alerts</a:t>
            </a:r>
            <a:r>
              <a:rPr lang="en-US" dirty="0" smtClean="0"/>
              <a:t>, not everything.</a:t>
            </a:r>
          </a:p>
          <a:p>
            <a:pPr>
              <a:buNone/>
            </a:pPr>
            <a:r>
              <a:rPr lang="en-US" dirty="0" smtClean="0"/>
              <a:t>	Example</a:t>
            </a:r>
            <a:r>
              <a:rPr lang="en-US" dirty="0" smtClean="0"/>
              <a:t>: Highlight “Fraud transactions detected” vs. “Printer out of ink.”</a:t>
            </a:r>
          </a:p>
          <a:p>
            <a:pPr>
              <a:buNone/>
            </a:pPr>
            <a:r>
              <a:rPr lang="en-US" b="1" dirty="0" smtClean="0"/>
              <a:t>User Comments Option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Let </a:t>
            </a:r>
            <a:r>
              <a:rPr lang="en-US" dirty="0" smtClean="0"/>
              <a:t>users add notes to KPIs.</a:t>
            </a:r>
          </a:p>
          <a:p>
            <a:pPr>
              <a:buNone/>
            </a:pPr>
            <a:r>
              <a:rPr lang="en-US" dirty="0" smtClean="0"/>
              <a:t>	Example</a:t>
            </a:r>
            <a:r>
              <a:rPr lang="en-US" dirty="0" smtClean="0"/>
              <a:t>: Finance manager adds: “Revenue dropped due to festive season ending.”</a:t>
            </a:r>
          </a:p>
          <a:p>
            <a:pPr lvl="1"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b="1" dirty="0" smtClean="0"/>
              <a:t>3 </a:t>
            </a:r>
            <a:r>
              <a:rPr lang="en-US" b="1" dirty="0" smtClean="0"/>
              <a:t>Levels of Information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Dashboard (summary) → Reports (detailed) → Cube (self-service analytics).</a:t>
            </a:r>
          </a:p>
          <a:p>
            <a:pPr>
              <a:buNone/>
            </a:pPr>
            <a:r>
              <a:rPr lang="en-US" dirty="0" smtClean="0"/>
              <a:t>Example:</a:t>
            </a:r>
          </a:p>
          <a:p>
            <a:pPr lvl="1">
              <a:buNone/>
            </a:pPr>
            <a:r>
              <a:rPr lang="en-US" dirty="0" smtClean="0"/>
              <a:t>Dashboard: “Sales this month = ₹10 Cr.”</a:t>
            </a:r>
          </a:p>
          <a:p>
            <a:pPr lvl="1">
              <a:buNone/>
            </a:pPr>
            <a:r>
              <a:rPr lang="en-US" dirty="0" smtClean="0"/>
              <a:t>Report: Breakdown by product (Milk ₹2 Cr, Bread ₹1 Cr …).</a:t>
            </a:r>
          </a:p>
          <a:p>
            <a:pPr lvl="1">
              <a:buNone/>
            </a:pPr>
            <a:r>
              <a:rPr lang="en-US" dirty="0" smtClean="0"/>
              <a:t>Cube: Analyst runs queries like “Show sales by region + product + quarter.”</a:t>
            </a:r>
          </a:p>
          <a:p>
            <a:pPr>
              <a:buNone/>
            </a:pPr>
            <a:r>
              <a:rPr lang="en-US" b="1" dirty="0" smtClean="0"/>
              <a:t>Pick Right Visuals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Bar chart → product sales comparison.</a:t>
            </a:r>
          </a:p>
          <a:p>
            <a:pPr>
              <a:buNone/>
            </a:pPr>
            <a:r>
              <a:rPr lang="en-US" dirty="0" smtClean="0"/>
              <a:t>Line chart → sales over time.</a:t>
            </a:r>
          </a:p>
          <a:p>
            <a:pPr>
              <a:buNone/>
            </a:pPr>
            <a:r>
              <a:rPr lang="en-US" dirty="0" smtClean="0"/>
              <a:t>Scatter plot → ad spend vs. sales growth.</a:t>
            </a:r>
          </a:p>
          <a:p>
            <a:pPr>
              <a:buNone/>
            </a:pPr>
            <a:r>
              <a:rPr lang="en-US" dirty="0" smtClean="0"/>
              <a:t>Table → employee attendance.</a:t>
            </a:r>
          </a:p>
          <a:p>
            <a:pPr>
              <a:buNone/>
            </a:pPr>
            <a:r>
              <a:rPr lang="en-US" b="1" dirty="0" smtClean="0"/>
              <a:t>Guided Analytics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Dashboard should guide normal users to insights, not just expert analysts.</a:t>
            </a:r>
          </a:p>
          <a:p>
            <a:pPr>
              <a:buNone/>
            </a:pPr>
            <a:r>
              <a:rPr lang="en-US" dirty="0" smtClean="0"/>
              <a:t>Example: Clicking “High Expenses” should lead step-by-step to find out “Travel expenses ↑ due to training in 3 cities.”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1722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b="1" dirty="0" smtClean="0"/>
              <a:t>🌟 What is Business Performance Management (BPM)?</a:t>
            </a:r>
          </a:p>
          <a:p>
            <a:pPr>
              <a:buNone/>
            </a:pPr>
            <a:r>
              <a:rPr lang="en-US" sz="2000" dirty="0" smtClean="0"/>
              <a:t>BPM = A </a:t>
            </a:r>
            <a:r>
              <a:rPr lang="en-US" sz="2000" b="1" dirty="0" smtClean="0"/>
              <a:t>continuous process</a:t>
            </a:r>
            <a:r>
              <a:rPr lang="en-US" sz="2000" dirty="0" smtClean="0"/>
              <a:t> organizations use to:</a:t>
            </a:r>
            <a:br>
              <a:rPr lang="en-US" sz="2000" dirty="0" smtClean="0"/>
            </a:br>
            <a:r>
              <a:rPr lang="en-US" sz="2000" b="1" dirty="0" smtClean="0"/>
              <a:t>Set goals → Plan actions → Monitor results → Adjust and improve</a:t>
            </a:r>
            <a:r>
              <a:rPr lang="en-US" sz="2000" dirty="0" smtClean="0"/>
              <a:t>.</a:t>
            </a:r>
          </a:p>
          <a:p>
            <a:pPr>
              <a:buNone/>
            </a:pPr>
            <a:r>
              <a:rPr lang="en-US" sz="2000" dirty="0" smtClean="0"/>
              <a:t>It connects </a:t>
            </a:r>
            <a:r>
              <a:rPr lang="en-US" sz="2000" b="1" dirty="0" smtClean="0"/>
              <a:t>strategy</a:t>
            </a:r>
            <a:r>
              <a:rPr lang="en-US" sz="2000" dirty="0" smtClean="0"/>
              <a:t> (long-term vision) with </a:t>
            </a:r>
            <a:r>
              <a:rPr lang="en-US" sz="2000" b="1" dirty="0" smtClean="0"/>
              <a:t>execution</a:t>
            </a:r>
            <a:r>
              <a:rPr lang="en-US" sz="2000" dirty="0" smtClean="0"/>
              <a:t> (day-to-day work).</a:t>
            </a:r>
          </a:p>
          <a:p>
            <a:pPr>
              <a:buNone/>
            </a:pPr>
            <a:r>
              <a:rPr lang="en-US" sz="2000" dirty="0" smtClean="0"/>
              <a:t>It ensures companies don’t just make plans but actually </a:t>
            </a:r>
            <a:r>
              <a:rPr lang="en-US" sz="2000" b="1" dirty="0" smtClean="0"/>
              <a:t>track and improve performance</a:t>
            </a:r>
            <a:r>
              <a:rPr lang="en-US" sz="2000" dirty="0" smtClean="0"/>
              <a:t>.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b="1" dirty="0" smtClean="0"/>
              <a:t>🔄 How BPM Works (in short):</a:t>
            </a:r>
          </a:p>
          <a:p>
            <a:pPr>
              <a:buNone/>
            </a:pPr>
            <a:r>
              <a:rPr lang="en-US" sz="2000" b="1" dirty="0" smtClean="0"/>
              <a:t>Strategy</a:t>
            </a:r>
            <a:r>
              <a:rPr lang="en-US" sz="2000" dirty="0" smtClean="0"/>
              <a:t>: Decide </a:t>
            </a:r>
            <a:r>
              <a:rPr lang="en-US" sz="2000" i="1" dirty="0" smtClean="0"/>
              <a:t>what you want</a:t>
            </a:r>
            <a:r>
              <a:rPr lang="en-US" sz="2000" dirty="0" smtClean="0"/>
              <a:t> (e.g., increase profit by 20%).</a:t>
            </a:r>
          </a:p>
          <a:p>
            <a:pPr>
              <a:buNone/>
            </a:pPr>
            <a:r>
              <a:rPr lang="en-US" sz="2000" b="1" dirty="0" smtClean="0"/>
              <a:t>Execution</a:t>
            </a:r>
            <a:r>
              <a:rPr lang="en-US" sz="2000" dirty="0" smtClean="0"/>
              <a:t>: Take actions to reach it (e.g., launch new product, cut costs).</a:t>
            </a:r>
          </a:p>
          <a:p>
            <a:pPr>
              <a:buNone/>
            </a:pPr>
            <a:r>
              <a:rPr lang="en-US" sz="2000" b="1" dirty="0" smtClean="0"/>
              <a:t>Monitoring</a:t>
            </a:r>
            <a:r>
              <a:rPr lang="en-US" sz="2000" dirty="0" smtClean="0"/>
              <a:t>: Track KPIs/dashboards (e.g., check monthly sales, expenses).</a:t>
            </a:r>
          </a:p>
          <a:p>
            <a:pPr>
              <a:buNone/>
            </a:pPr>
            <a:r>
              <a:rPr lang="en-US" sz="2000" b="1" dirty="0" smtClean="0"/>
              <a:t>Improvement</a:t>
            </a:r>
            <a:r>
              <a:rPr lang="en-US" sz="2000" dirty="0" smtClean="0"/>
              <a:t>: Adjust if things aren’t working (e.g., change pricing strategy).</a:t>
            </a:r>
          </a:p>
          <a:p>
            <a:pPr>
              <a:buNone/>
            </a:pPr>
            <a:r>
              <a:rPr lang="en-US" sz="2000" dirty="0" smtClean="0"/>
              <a:t>👉 This runs as a </a:t>
            </a:r>
            <a:r>
              <a:rPr lang="en-US" sz="2000" b="1" dirty="0" smtClean="0"/>
              <a:t>continuous loop</a:t>
            </a:r>
            <a:r>
              <a:rPr lang="en-US" sz="2000" dirty="0" smtClean="0"/>
              <a:t> until performance improves</a:t>
            </a:r>
            <a:r>
              <a:rPr lang="en-US" sz="2000" dirty="0" smtClean="0"/>
              <a:t>.</a:t>
            </a:r>
          </a:p>
          <a:p>
            <a:pPr>
              <a:buNone/>
            </a:pPr>
            <a:endParaRPr lang="en-US" sz="1800" dirty="0" smtClean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800" b="1" dirty="0" smtClean="0"/>
              <a:t>️ Different Names for BPM</a:t>
            </a:r>
          </a:p>
          <a:p>
            <a:pPr>
              <a:buNone/>
            </a:pPr>
            <a:r>
              <a:rPr lang="en-US" sz="1800" dirty="0" smtClean="0"/>
              <a:t>Different companies/analysts use different names for </a:t>
            </a:r>
            <a:r>
              <a:rPr lang="en-US" sz="1800" b="1" dirty="0" smtClean="0"/>
              <a:t>the same concept</a:t>
            </a:r>
            <a:r>
              <a:rPr lang="en-US" sz="1800" dirty="0" smtClean="0"/>
              <a:t>:</a:t>
            </a:r>
          </a:p>
          <a:p>
            <a:pPr>
              <a:buNone/>
            </a:pPr>
            <a:r>
              <a:rPr lang="en-US" sz="1800" b="1" dirty="0" smtClean="0"/>
              <a:t>CPM (Corporate Performance Management)</a:t>
            </a:r>
            <a:r>
              <a:rPr lang="en-US" sz="1800" dirty="0" smtClean="0"/>
              <a:t> – Term used by </a:t>
            </a:r>
            <a:r>
              <a:rPr lang="en-US" sz="1800" b="1" dirty="0" smtClean="0"/>
              <a:t>Gartner</a:t>
            </a:r>
            <a:r>
              <a:rPr lang="en-US" sz="1800" dirty="0" smtClean="0"/>
              <a:t> (an IT research company).</a:t>
            </a:r>
          </a:p>
          <a:p>
            <a:pPr lvl="1">
              <a:buNone/>
            </a:pPr>
            <a:r>
              <a:rPr lang="en-US" sz="1600" dirty="0" smtClean="0"/>
              <a:t>Example: A multinational like Coca-Cola uses </a:t>
            </a:r>
            <a:r>
              <a:rPr lang="en-US" sz="1600" b="1" dirty="0" smtClean="0"/>
              <a:t>CPM tools</a:t>
            </a:r>
            <a:r>
              <a:rPr lang="en-US" sz="1600" dirty="0" smtClean="0"/>
              <a:t> to manage performance across global offices.</a:t>
            </a:r>
          </a:p>
          <a:p>
            <a:pPr>
              <a:buNone/>
            </a:pPr>
            <a:r>
              <a:rPr lang="en-US" sz="1800" b="1" dirty="0" smtClean="0"/>
              <a:t>EPM (Enterprise Performance Management)</a:t>
            </a:r>
            <a:r>
              <a:rPr lang="en-US" sz="1800" dirty="0" smtClean="0"/>
              <a:t> – Term used by </a:t>
            </a:r>
            <a:r>
              <a:rPr lang="en-US" sz="1800" b="1" dirty="0" smtClean="0"/>
              <a:t>Oracle</a:t>
            </a:r>
            <a:r>
              <a:rPr lang="en-US" sz="1800" dirty="0" smtClean="0"/>
              <a:t> (software company).</a:t>
            </a:r>
          </a:p>
          <a:p>
            <a:pPr lvl="1">
              <a:buNone/>
            </a:pPr>
            <a:r>
              <a:rPr lang="en-US" sz="1600" dirty="0" smtClean="0"/>
              <a:t>Example: Oracle’s EPM Cloud helps businesses create budgets, forecasts, and financial reports.</a:t>
            </a:r>
          </a:p>
          <a:p>
            <a:pPr>
              <a:buNone/>
            </a:pPr>
            <a:r>
              <a:rPr lang="en-US" sz="1800" b="1" dirty="0" smtClean="0"/>
              <a:t>SEM (Strategic Enterprise Management)</a:t>
            </a:r>
            <a:r>
              <a:rPr lang="en-US" sz="1800" dirty="0" smtClean="0"/>
              <a:t> – Term used by </a:t>
            </a:r>
            <a:r>
              <a:rPr lang="en-US" sz="1800" b="1" dirty="0" smtClean="0"/>
              <a:t>SAP</a:t>
            </a:r>
            <a:r>
              <a:rPr lang="en-US" sz="1800" dirty="0" smtClean="0"/>
              <a:t> (another big software company).</a:t>
            </a:r>
          </a:p>
          <a:p>
            <a:pPr lvl="1">
              <a:buNone/>
            </a:pPr>
            <a:r>
              <a:rPr lang="en-US" sz="1600" dirty="0" smtClean="0"/>
              <a:t>Example: SAP SEM is used by manufacturing companies to align </a:t>
            </a:r>
            <a:r>
              <a:rPr lang="en-US" sz="1600" b="1" dirty="0" smtClean="0"/>
              <a:t>corporate strategy</a:t>
            </a:r>
            <a:r>
              <a:rPr lang="en-US" sz="1600" dirty="0" smtClean="0"/>
              <a:t> with </a:t>
            </a:r>
            <a:r>
              <a:rPr lang="en-US" sz="1600" b="1" dirty="0" smtClean="0"/>
              <a:t>daily operations</a:t>
            </a:r>
            <a:r>
              <a:rPr lang="en-US" sz="1600" dirty="0" smtClean="0"/>
              <a:t>.</a:t>
            </a:r>
          </a:p>
          <a:p>
            <a:pPr>
              <a:buNone/>
            </a:pPr>
            <a:r>
              <a:rPr lang="en-US" sz="1800" dirty="0" smtClean="0"/>
              <a:t>👉 </a:t>
            </a:r>
            <a:r>
              <a:rPr lang="en-US" sz="1800" b="1" dirty="0" smtClean="0"/>
              <a:t>All three mean the same thing</a:t>
            </a:r>
            <a:r>
              <a:rPr lang="en-US" sz="1800" dirty="0" smtClean="0"/>
              <a:t> → linking strategy, planning, monitoring, and improvement.</a:t>
            </a:r>
            <a:br>
              <a:rPr lang="en-US" sz="1800" dirty="0" smtClean="0"/>
            </a:br>
            <a:r>
              <a:rPr lang="en-US" sz="1800" dirty="0" smtClean="0"/>
              <a:t>Only the </a:t>
            </a:r>
            <a:r>
              <a:rPr lang="en-US" sz="1800" b="1" dirty="0" smtClean="0"/>
              <a:t>naming changes depending on vendor/analyst</a:t>
            </a:r>
            <a:r>
              <a:rPr lang="en-US" sz="1800" dirty="0" smtClean="0"/>
              <a:t>.</a:t>
            </a:r>
          </a:p>
          <a:p>
            <a:pPr>
              <a:buNone/>
            </a:pPr>
            <a:endParaRPr lang="en-US" sz="1600" b="1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Closed-Loop BPM Cycle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 smtClean="0"/>
              <a:t>The 4 Steps of BPM with Examples</a:t>
            </a:r>
          </a:p>
          <a:p>
            <a:pPr>
              <a:buNone/>
            </a:pPr>
            <a:r>
              <a:rPr lang="en-US" b="1" dirty="0" smtClean="0"/>
              <a:t>1. Strategize → “Where do we want to go?”</a:t>
            </a:r>
          </a:p>
          <a:p>
            <a:pPr>
              <a:buNone/>
            </a:pPr>
            <a:r>
              <a:rPr lang="en-US" b="1" dirty="0" smtClean="0"/>
              <a:t>Definition</a:t>
            </a:r>
            <a:r>
              <a:rPr lang="en-US" dirty="0" smtClean="0"/>
              <a:t>: Setting the </a:t>
            </a:r>
            <a:r>
              <a:rPr lang="en-US" b="1" dirty="0" smtClean="0"/>
              <a:t>mission, vision, and long-term goals</a:t>
            </a:r>
            <a:r>
              <a:rPr lang="en-US" dirty="0" smtClean="0"/>
              <a:t> of the organization.</a:t>
            </a:r>
          </a:p>
          <a:p>
            <a:pPr>
              <a:buNone/>
            </a:pPr>
            <a:r>
              <a:rPr lang="en-US" b="1" dirty="0" smtClean="0"/>
              <a:t>Example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 smtClean="0"/>
              <a:t>A retail chain (like Reliance Smart) decides:</a:t>
            </a:r>
          </a:p>
          <a:p>
            <a:pPr lvl="1">
              <a:buNone/>
            </a:pPr>
            <a:r>
              <a:rPr lang="en-US" i="1" dirty="0" smtClean="0"/>
              <a:t>Mission</a:t>
            </a:r>
            <a:r>
              <a:rPr lang="en-US" dirty="0" smtClean="0"/>
              <a:t>: “Become the #1 affordable grocery chain in South India.”</a:t>
            </a:r>
          </a:p>
          <a:p>
            <a:pPr lvl="1">
              <a:buNone/>
            </a:pPr>
            <a:r>
              <a:rPr lang="en-US" i="1" dirty="0" smtClean="0"/>
              <a:t>Goal</a:t>
            </a:r>
            <a:r>
              <a:rPr lang="en-US" dirty="0" smtClean="0"/>
              <a:t>: Increase market share by </a:t>
            </a:r>
            <a:r>
              <a:rPr lang="en-US" b="1" dirty="0" smtClean="0"/>
              <a:t>15% in 3 years</a:t>
            </a:r>
            <a:r>
              <a:rPr lang="en-US" dirty="0" smtClean="0"/>
              <a:t>, especially in tier-2 cities.</a:t>
            </a:r>
          </a:p>
          <a:p>
            <a:pPr>
              <a:buNone/>
            </a:pPr>
            <a:r>
              <a:rPr lang="en-US" dirty="0" smtClean="0"/>
              <a:t>👉 Here, executives and board members set the </a:t>
            </a:r>
            <a:r>
              <a:rPr lang="en-US" b="1" dirty="0" smtClean="0"/>
              <a:t>direction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b="1" dirty="0" smtClean="0"/>
              <a:t>2. Plan → “How do we get there?”</a:t>
            </a:r>
          </a:p>
          <a:p>
            <a:pPr>
              <a:buNone/>
            </a:pPr>
            <a:r>
              <a:rPr lang="en-US" b="1" dirty="0" smtClean="0"/>
              <a:t>Definition</a:t>
            </a:r>
            <a:r>
              <a:rPr lang="en-US" dirty="0" smtClean="0"/>
              <a:t>: Translating the strategy into </a:t>
            </a:r>
            <a:r>
              <a:rPr lang="en-US" b="1" dirty="0" smtClean="0"/>
              <a:t>specific tactics, initiatives, budgets, and resources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b="1" dirty="0" smtClean="0"/>
              <a:t>Example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 smtClean="0"/>
              <a:t>To achieve the 15% growth, the retail chain makes a </a:t>
            </a:r>
            <a:r>
              <a:rPr lang="en-US" b="1" dirty="0" smtClean="0"/>
              <a:t>1-year operational plan</a:t>
            </a:r>
            <a:r>
              <a:rPr lang="en-US" dirty="0" smtClean="0"/>
              <a:t>:</a:t>
            </a:r>
          </a:p>
          <a:p>
            <a:pPr lvl="1">
              <a:buNone/>
            </a:pPr>
            <a:r>
              <a:rPr lang="en-US" dirty="0" smtClean="0"/>
              <a:t>Open </a:t>
            </a:r>
            <a:r>
              <a:rPr lang="en-US" b="1" dirty="0" smtClean="0"/>
              <a:t>20 new stores</a:t>
            </a:r>
            <a:r>
              <a:rPr lang="en-US" dirty="0" smtClean="0"/>
              <a:t> in tier-2 cities.</a:t>
            </a:r>
          </a:p>
          <a:p>
            <a:pPr lvl="1">
              <a:buNone/>
            </a:pPr>
            <a:r>
              <a:rPr lang="en-US" dirty="0" smtClean="0"/>
              <a:t>Invest in </a:t>
            </a:r>
            <a:r>
              <a:rPr lang="en-US" b="1" dirty="0" smtClean="0"/>
              <a:t>home delivery app</a:t>
            </a:r>
            <a:r>
              <a:rPr lang="en-US" dirty="0" smtClean="0"/>
              <a:t> to attract more customers.</a:t>
            </a:r>
          </a:p>
          <a:p>
            <a:pPr lvl="1">
              <a:buNone/>
            </a:pPr>
            <a:r>
              <a:rPr lang="en-US" dirty="0" smtClean="0"/>
              <a:t>Allocate </a:t>
            </a:r>
            <a:r>
              <a:rPr lang="en-US" b="1" dirty="0" smtClean="0"/>
              <a:t>₹50 </a:t>
            </a:r>
            <a:r>
              <a:rPr lang="en-US" b="1" dirty="0" err="1" smtClean="0"/>
              <a:t>crore</a:t>
            </a:r>
            <a:r>
              <a:rPr lang="en-US" dirty="0" smtClean="0"/>
              <a:t> for promotions and discounts.</a:t>
            </a:r>
          </a:p>
          <a:p>
            <a:pPr lvl="1">
              <a:buNone/>
            </a:pPr>
            <a:r>
              <a:rPr lang="en-US" dirty="0" smtClean="0"/>
              <a:t>Forecast expected revenue of </a:t>
            </a:r>
            <a:r>
              <a:rPr lang="en-US" b="1" dirty="0" smtClean="0"/>
              <a:t>₹500 </a:t>
            </a:r>
            <a:r>
              <a:rPr lang="en-US" b="1" dirty="0" err="1" smtClean="0"/>
              <a:t>crore</a:t>
            </a:r>
            <a:r>
              <a:rPr lang="en-US" dirty="0" smtClean="0"/>
              <a:t> for the year.</a:t>
            </a:r>
          </a:p>
          <a:p>
            <a:pPr>
              <a:buNone/>
            </a:pPr>
            <a:r>
              <a:rPr lang="en-US" dirty="0" smtClean="0"/>
              <a:t>👉 This is where </a:t>
            </a:r>
            <a:r>
              <a:rPr lang="en-US" b="1" dirty="0" smtClean="0"/>
              <a:t>strategy becomes actionable steps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3. Monitor / Analyze → “How are we doing?”</a:t>
            </a:r>
          </a:p>
          <a:p>
            <a:pPr>
              <a:buNone/>
            </a:pPr>
            <a:r>
              <a:rPr lang="en-US" b="1" dirty="0" smtClean="0"/>
              <a:t>Definition</a:t>
            </a:r>
            <a:r>
              <a:rPr lang="en-US" dirty="0" smtClean="0"/>
              <a:t>: Tracking performance using </a:t>
            </a:r>
            <a:r>
              <a:rPr lang="en-US" b="1" dirty="0" smtClean="0"/>
              <a:t>Key Performance Indicators (KPIs)</a:t>
            </a:r>
            <a:r>
              <a:rPr lang="en-US" dirty="0" smtClean="0"/>
              <a:t> and analyzing progress.</a:t>
            </a:r>
          </a:p>
          <a:p>
            <a:pPr>
              <a:buNone/>
            </a:pPr>
            <a:r>
              <a:rPr lang="en-US" b="1" dirty="0" smtClean="0"/>
              <a:t>Example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 smtClean="0"/>
              <a:t>The retail chain sets up dashboards to monitor KPIs like:</a:t>
            </a:r>
          </a:p>
          <a:p>
            <a:pPr lvl="1">
              <a:buNone/>
            </a:pPr>
            <a:r>
              <a:rPr lang="en-US" b="1" dirty="0" smtClean="0"/>
              <a:t>Monthly sales growth</a:t>
            </a:r>
            <a:r>
              <a:rPr lang="en-US" dirty="0" smtClean="0"/>
              <a:t> per store.</a:t>
            </a:r>
          </a:p>
          <a:p>
            <a:pPr lvl="1">
              <a:buNone/>
            </a:pPr>
            <a:r>
              <a:rPr lang="en-US" b="1" dirty="0" smtClean="0"/>
              <a:t>App downloads &amp; active users</a:t>
            </a:r>
            <a:r>
              <a:rPr lang="en-US" dirty="0" smtClean="0"/>
              <a:t>.</a:t>
            </a:r>
          </a:p>
          <a:p>
            <a:pPr lvl="1">
              <a:buNone/>
            </a:pPr>
            <a:r>
              <a:rPr lang="en-US" b="1" dirty="0" smtClean="0"/>
              <a:t>Customer satisfaction score (CSAT)</a:t>
            </a:r>
            <a:r>
              <a:rPr lang="en-US" dirty="0" smtClean="0"/>
              <a:t>.</a:t>
            </a:r>
          </a:p>
          <a:p>
            <a:pPr lvl="1">
              <a:buNone/>
            </a:pPr>
            <a:r>
              <a:rPr lang="en-US" b="1" dirty="0" smtClean="0"/>
              <a:t>Inventory turnover</a:t>
            </a:r>
            <a:r>
              <a:rPr lang="en-US" dirty="0" smtClean="0"/>
              <a:t> (how fast products are selling).</a:t>
            </a:r>
          </a:p>
          <a:p>
            <a:pPr>
              <a:buNone/>
            </a:pPr>
            <a:r>
              <a:rPr lang="en-US" dirty="0" smtClean="0"/>
              <a:t>If they see that some tier-2 city stores are </a:t>
            </a:r>
            <a:r>
              <a:rPr lang="en-US" b="1" dirty="0" smtClean="0"/>
              <a:t>underperforming</a:t>
            </a:r>
            <a:r>
              <a:rPr lang="en-US" dirty="0" smtClean="0"/>
              <a:t> while others are exceeding targets, they analyze the reasons (maybe local competition or poor marketing).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b="1" dirty="0" smtClean="0"/>
              <a:t>4. Act &amp; Adjust → “What do we need to do differently?”</a:t>
            </a:r>
          </a:p>
          <a:p>
            <a:pPr>
              <a:buNone/>
            </a:pPr>
            <a:r>
              <a:rPr lang="en-US" b="1" dirty="0" smtClean="0"/>
              <a:t>Definition</a:t>
            </a:r>
            <a:r>
              <a:rPr lang="en-US" dirty="0" smtClean="0"/>
              <a:t>: Taking corrective actions to </a:t>
            </a:r>
            <a:r>
              <a:rPr lang="en-US" b="1" dirty="0" smtClean="0"/>
              <a:t>improve performance and adapt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b="1" dirty="0" smtClean="0"/>
              <a:t>Example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 smtClean="0"/>
              <a:t>If monitoring shows that the new delivery app is not popular (only 10k users </a:t>
            </a:r>
            <a:r>
              <a:rPr lang="en-US" dirty="0" err="1" smtClean="0"/>
              <a:t>vs</a:t>
            </a:r>
            <a:r>
              <a:rPr lang="en-US" dirty="0" smtClean="0"/>
              <a:t> target of 50k):</a:t>
            </a:r>
          </a:p>
          <a:p>
            <a:pPr lvl="1">
              <a:buNone/>
            </a:pPr>
            <a:r>
              <a:rPr lang="en-US" dirty="0" smtClean="0"/>
              <a:t>The company </a:t>
            </a:r>
            <a:r>
              <a:rPr lang="en-US" b="1" dirty="0" smtClean="0"/>
              <a:t>partners with </a:t>
            </a:r>
            <a:r>
              <a:rPr lang="en-US" b="1" dirty="0" err="1" smtClean="0"/>
              <a:t>Swiggy</a:t>
            </a:r>
            <a:r>
              <a:rPr lang="en-US" b="1" dirty="0" smtClean="0"/>
              <a:t> </a:t>
            </a:r>
            <a:r>
              <a:rPr lang="en-US" b="1" dirty="0" err="1" smtClean="0"/>
              <a:t>Instamart</a:t>
            </a:r>
            <a:r>
              <a:rPr lang="en-US" dirty="0" smtClean="0"/>
              <a:t> for delivery instead of running it alone.</a:t>
            </a:r>
          </a:p>
          <a:p>
            <a:pPr lvl="1">
              <a:buNone/>
            </a:pPr>
            <a:r>
              <a:rPr lang="en-US" dirty="0" smtClean="0"/>
              <a:t>They </a:t>
            </a:r>
            <a:r>
              <a:rPr lang="en-US" b="1" dirty="0" smtClean="0"/>
              <a:t>increase app promotions</a:t>
            </a:r>
            <a:r>
              <a:rPr lang="en-US" dirty="0" smtClean="0"/>
              <a:t> in high-performing stores.</a:t>
            </a:r>
          </a:p>
          <a:p>
            <a:pPr lvl="1">
              <a:buNone/>
            </a:pPr>
            <a:r>
              <a:rPr lang="en-US" dirty="0" smtClean="0"/>
              <a:t>Underperforming stores get </a:t>
            </a:r>
            <a:r>
              <a:rPr lang="en-US" b="1" dirty="0" smtClean="0"/>
              <a:t>local discounts</a:t>
            </a:r>
            <a:r>
              <a:rPr lang="en-US" dirty="0" smtClean="0"/>
              <a:t> to attract customers.</a:t>
            </a:r>
          </a:p>
          <a:p>
            <a:pPr>
              <a:buNone/>
            </a:pPr>
            <a:r>
              <a:rPr lang="en-US" dirty="0" smtClean="0"/>
              <a:t>👉 The cycle then </a:t>
            </a:r>
            <a:r>
              <a:rPr lang="en-US" b="1" dirty="0" smtClean="0"/>
              <a:t>repeats</a:t>
            </a:r>
            <a:r>
              <a:rPr lang="en-US" dirty="0" smtClean="0"/>
              <a:t> — after adjustments, new strategies and plans are set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Example (Retail Chain)</a:t>
            </a:r>
            <a:endParaRPr lang="en-US" b="1" dirty="0" smtClean="0"/>
          </a:p>
          <a:p>
            <a:pPr>
              <a:buNone/>
            </a:pPr>
            <a:r>
              <a:rPr lang="en-US" b="1" dirty="0" smtClean="0"/>
              <a:t>Strategize</a:t>
            </a:r>
            <a:r>
              <a:rPr lang="en-US" dirty="0" smtClean="0"/>
              <a:t> </a:t>
            </a:r>
            <a:r>
              <a:rPr lang="en-US" dirty="0" smtClean="0"/>
              <a:t>→ Become #1 affordable grocery chain in South India.</a:t>
            </a:r>
          </a:p>
          <a:p>
            <a:pPr>
              <a:buNone/>
            </a:pPr>
            <a:r>
              <a:rPr lang="en-US" b="1" dirty="0" smtClean="0"/>
              <a:t>Plan</a:t>
            </a:r>
            <a:r>
              <a:rPr lang="en-US" dirty="0" smtClean="0"/>
              <a:t> → Open 20 stores, launch delivery app, spend ₹50 </a:t>
            </a:r>
            <a:r>
              <a:rPr lang="en-US" dirty="0" err="1" smtClean="0"/>
              <a:t>crore</a:t>
            </a:r>
            <a:r>
              <a:rPr lang="en-US" dirty="0" smtClean="0"/>
              <a:t> on promotions.</a:t>
            </a:r>
          </a:p>
          <a:p>
            <a:pPr>
              <a:buNone/>
            </a:pPr>
            <a:r>
              <a:rPr lang="en-US" b="1" dirty="0" smtClean="0"/>
              <a:t>Monitor</a:t>
            </a:r>
            <a:r>
              <a:rPr lang="en-US" dirty="0" smtClean="0"/>
              <a:t> → Track sales, app downloads, customer satisfaction, inventory.</a:t>
            </a:r>
          </a:p>
          <a:p>
            <a:pPr>
              <a:buNone/>
            </a:pPr>
            <a:r>
              <a:rPr lang="en-US" b="1" dirty="0" smtClean="0"/>
              <a:t>Act &amp; Adjust</a:t>
            </a:r>
            <a:r>
              <a:rPr lang="en-US" dirty="0" smtClean="0"/>
              <a:t> → Change marketing, partner with </a:t>
            </a:r>
            <a:r>
              <a:rPr lang="en-US" dirty="0" err="1" smtClean="0"/>
              <a:t>Swiggy</a:t>
            </a:r>
            <a:r>
              <a:rPr lang="en-US" dirty="0" smtClean="0"/>
              <a:t>, improve promotions.</a:t>
            </a:r>
          </a:p>
          <a:p>
            <a:pPr>
              <a:buNone/>
            </a:pPr>
            <a:r>
              <a:rPr lang="en-US" dirty="0" smtClean="0"/>
              <a:t>This </a:t>
            </a:r>
            <a:r>
              <a:rPr lang="en-US" b="1" dirty="0" smtClean="0"/>
              <a:t>closed-loop cycle</a:t>
            </a:r>
            <a:r>
              <a:rPr lang="en-US" dirty="0" smtClean="0"/>
              <a:t> ensures that business performance </a:t>
            </a:r>
            <a:r>
              <a:rPr lang="en-US" b="1" dirty="0" smtClean="0"/>
              <a:t>keeps improving continuously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Performance Measurement in BPM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 smtClean="0"/>
              <a:t>🔑 </a:t>
            </a:r>
            <a:r>
              <a:rPr lang="en-US" b="1" dirty="0" smtClean="0"/>
              <a:t>Core Idea:</a:t>
            </a:r>
          </a:p>
          <a:p>
            <a:pPr>
              <a:buNone/>
            </a:pPr>
            <a:r>
              <a:rPr lang="en-US" dirty="0" smtClean="0"/>
              <a:t>A </a:t>
            </a:r>
            <a:r>
              <a:rPr lang="en-US" b="1" dirty="0" smtClean="0"/>
              <a:t>Performance Measurement System</a:t>
            </a:r>
            <a:r>
              <a:rPr lang="en-US" dirty="0" smtClean="0"/>
              <a:t> = helps managers </a:t>
            </a:r>
            <a:r>
              <a:rPr lang="en-US" b="1" dirty="0" smtClean="0"/>
              <a:t>track progress</a:t>
            </a:r>
            <a:r>
              <a:rPr lang="en-US" dirty="0" smtClean="0"/>
              <a:t> toward strategic goals by comparing:</a:t>
            </a:r>
            <a:br>
              <a:rPr lang="en-US" dirty="0" smtClean="0"/>
            </a:br>
            <a:r>
              <a:rPr lang="en-US" dirty="0" smtClean="0"/>
              <a:t>👉 </a:t>
            </a:r>
            <a:r>
              <a:rPr lang="en-US" b="1" dirty="0" smtClean="0"/>
              <a:t>Actual results vs. Goals/Targets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Without comparison, numbers mean little.</a:t>
            </a:r>
            <a:br>
              <a:rPr lang="en-US" dirty="0" smtClean="0"/>
            </a:br>
            <a:r>
              <a:rPr lang="en-US" dirty="0" smtClean="0"/>
              <a:t>Example:</a:t>
            </a:r>
          </a:p>
          <a:p>
            <a:pPr>
              <a:buNone/>
            </a:pPr>
            <a:r>
              <a:rPr lang="en-US" dirty="0" smtClean="0"/>
              <a:t>Salesperson closes </a:t>
            </a:r>
            <a:r>
              <a:rPr lang="en-US" b="1" dirty="0" smtClean="0"/>
              <a:t>50% of deals this month</a:t>
            </a:r>
            <a:r>
              <a:rPr lang="en-US" dirty="0" smtClean="0"/>
              <a:t>.</a:t>
            </a:r>
          </a:p>
          <a:p>
            <a:pPr lvl="1">
              <a:buNone/>
            </a:pPr>
            <a:r>
              <a:rPr lang="en-US" dirty="0" smtClean="0"/>
              <a:t>Last year it was </a:t>
            </a:r>
            <a:r>
              <a:rPr lang="en-US" b="1" dirty="0" smtClean="0"/>
              <a:t>30% → Improvement 👍</a:t>
            </a:r>
            <a:endParaRPr lang="en-US" dirty="0" smtClean="0"/>
          </a:p>
          <a:p>
            <a:pPr lvl="1">
              <a:buNone/>
            </a:pPr>
            <a:r>
              <a:rPr lang="en-US" dirty="0" smtClean="0"/>
              <a:t>Company average is </a:t>
            </a:r>
            <a:r>
              <a:rPr lang="en-US" b="1" dirty="0" smtClean="0"/>
              <a:t>80% → Still behind 👎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So, </a:t>
            </a:r>
            <a:r>
              <a:rPr lang="en-US" b="1" dirty="0" smtClean="0"/>
              <a:t>measurement = comparison</a:t>
            </a:r>
            <a:r>
              <a:rPr lang="en-US" dirty="0" smtClean="0"/>
              <a:t> (against past performance, targets, or competitors).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/>
              <a:t>2</a:t>
            </a:r>
            <a:r>
              <a:rPr lang="en-US" b="1" dirty="0" smtClean="0"/>
              <a:t> </a:t>
            </a:r>
            <a:r>
              <a:rPr lang="en-US" b="1" dirty="0" smtClean="0"/>
              <a:t>What </a:t>
            </a:r>
            <a:r>
              <a:rPr lang="en-US" b="1" dirty="0" smtClean="0"/>
              <a:t>is a KPI (Key Performance Indicator)?</a:t>
            </a:r>
          </a:p>
          <a:p>
            <a:pPr>
              <a:buNone/>
            </a:pPr>
            <a:r>
              <a:rPr lang="en-US" dirty="0" smtClean="0"/>
              <a:t>A </a:t>
            </a:r>
            <a:r>
              <a:rPr lang="en-US" b="1" dirty="0" smtClean="0"/>
              <a:t>special metric</a:t>
            </a:r>
            <a:r>
              <a:rPr lang="en-US" dirty="0" smtClean="0"/>
              <a:t> that shows how well a company is meeting an </a:t>
            </a:r>
            <a:r>
              <a:rPr lang="en-US" b="1" dirty="0" smtClean="0"/>
              <a:t>important goal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Not all numbers are KPIs, only those </a:t>
            </a:r>
            <a:r>
              <a:rPr lang="en-US" b="1" dirty="0" smtClean="0"/>
              <a:t>linked to strategy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👉 Example:</a:t>
            </a:r>
          </a:p>
          <a:p>
            <a:pPr>
              <a:buNone/>
            </a:pPr>
            <a:r>
              <a:rPr lang="en-US" dirty="0" smtClean="0"/>
              <a:t>Metric: “Number of phone calls answered.” (just data)</a:t>
            </a:r>
          </a:p>
          <a:p>
            <a:pPr>
              <a:buNone/>
            </a:pPr>
            <a:r>
              <a:rPr lang="en-US" dirty="0" smtClean="0"/>
              <a:t>KPI: “Answer 95% of calls within 30 seconds.” (linked to customer service goal).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 smtClean="0"/>
              <a:t>3</a:t>
            </a:r>
            <a:r>
              <a:rPr lang="en-US" b="1" dirty="0" smtClean="0"/>
              <a:t> </a:t>
            </a:r>
            <a:r>
              <a:rPr lang="en-US" b="1" dirty="0" smtClean="0"/>
              <a:t>Features </a:t>
            </a:r>
            <a:r>
              <a:rPr lang="en-US" b="1" dirty="0" smtClean="0"/>
              <a:t>of KPIs</a:t>
            </a:r>
          </a:p>
          <a:p>
            <a:pPr>
              <a:buNone/>
            </a:pPr>
            <a:r>
              <a:rPr lang="en-US" dirty="0" smtClean="0"/>
              <a:t>Think of a KPI like a school exam score – it has rules:</a:t>
            </a:r>
          </a:p>
          <a:p>
            <a:pPr>
              <a:buNone/>
            </a:pPr>
            <a:r>
              <a:rPr lang="en-US" b="1" dirty="0" smtClean="0"/>
              <a:t>Strategy</a:t>
            </a:r>
            <a:r>
              <a:rPr lang="en-US" dirty="0" smtClean="0"/>
              <a:t> → Linked to a goal.</a:t>
            </a:r>
          </a:p>
          <a:p>
            <a:pPr lvl="1">
              <a:buNone/>
            </a:pPr>
            <a:r>
              <a:rPr lang="en-US" dirty="0" smtClean="0"/>
              <a:t>Example: Improve customer loyalty.</a:t>
            </a:r>
          </a:p>
          <a:p>
            <a:pPr>
              <a:buNone/>
            </a:pPr>
            <a:r>
              <a:rPr lang="en-US" b="1" dirty="0" smtClean="0"/>
              <a:t>Target</a:t>
            </a:r>
            <a:r>
              <a:rPr lang="en-US" dirty="0" smtClean="0"/>
              <a:t> → Clear goal to reach.</a:t>
            </a:r>
          </a:p>
          <a:p>
            <a:pPr lvl="1">
              <a:buNone/>
            </a:pPr>
            <a:r>
              <a:rPr lang="en-US" dirty="0" smtClean="0"/>
              <a:t>Example: 95% customer satisfaction.</a:t>
            </a:r>
          </a:p>
          <a:p>
            <a:pPr>
              <a:buNone/>
            </a:pPr>
            <a:r>
              <a:rPr lang="en-US" b="1" dirty="0" smtClean="0"/>
              <a:t>Ranges</a:t>
            </a:r>
            <a:r>
              <a:rPr lang="en-US" dirty="0" smtClean="0"/>
              <a:t> → Performance levels.</a:t>
            </a:r>
          </a:p>
          <a:p>
            <a:pPr lvl="1">
              <a:buNone/>
            </a:pPr>
            <a:r>
              <a:rPr lang="en-US" dirty="0" smtClean="0"/>
              <a:t>Example: Green = 90–100, Yellow = 80–89, Red = below 80.</a:t>
            </a:r>
          </a:p>
          <a:p>
            <a:pPr>
              <a:buNone/>
            </a:pPr>
            <a:r>
              <a:rPr lang="en-US" b="1" dirty="0" smtClean="0"/>
              <a:t>Encodings</a:t>
            </a:r>
            <a:r>
              <a:rPr lang="en-US" dirty="0" smtClean="0"/>
              <a:t> → Visual colors/symbols to show progress.</a:t>
            </a:r>
          </a:p>
          <a:p>
            <a:pPr lvl="1">
              <a:buNone/>
            </a:pPr>
            <a:r>
              <a:rPr lang="en-US" dirty="0" smtClean="0"/>
              <a:t>Example: Traffic light colors on dashboards.</a:t>
            </a:r>
          </a:p>
          <a:p>
            <a:pPr>
              <a:buNone/>
            </a:pPr>
            <a:r>
              <a:rPr lang="en-US" b="1" dirty="0" smtClean="0"/>
              <a:t>Time frame</a:t>
            </a:r>
            <a:r>
              <a:rPr lang="en-US" dirty="0" smtClean="0"/>
              <a:t> → Deadline.</a:t>
            </a:r>
          </a:p>
          <a:p>
            <a:pPr lvl="1">
              <a:buNone/>
            </a:pPr>
            <a:r>
              <a:rPr lang="en-US" dirty="0" smtClean="0"/>
              <a:t>Example: Achieve 95% satisfaction by Dec 2025.</a:t>
            </a:r>
          </a:p>
          <a:p>
            <a:pPr>
              <a:buNone/>
            </a:pPr>
            <a:r>
              <a:rPr lang="en-US" b="1" dirty="0" smtClean="0"/>
              <a:t>Benchmark</a:t>
            </a:r>
            <a:r>
              <a:rPr lang="en-US" dirty="0" smtClean="0"/>
              <a:t> → Compare with past or others.</a:t>
            </a:r>
          </a:p>
          <a:p>
            <a:pPr lvl="1">
              <a:buNone/>
            </a:pPr>
            <a:r>
              <a:rPr lang="en-US" dirty="0" smtClean="0"/>
              <a:t>Example: Last year = 90%, now target = 95%.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 smtClean="0"/>
              <a:t>4</a:t>
            </a:r>
            <a:r>
              <a:rPr lang="en-US" b="1" dirty="0" smtClean="0"/>
              <a:t> </a:t>
            </a:r>
            <a:r>
              <a:rPr lang="en-US" b="1" dirty="0" smtClean="0"/>
              <a:t>Types </a:t>
            </a:r>
            <a:r>
              <a:rPr lang="en-US" b="1" dirty="0" smtClean="0"/>
              <a:t>of KPIs</a:t>
            </a:r>
          </a:p>
          <a:p>
            <a:pPr>
              <a:buNone/>
            </a:pPr>
            <a:r>
              <a:rPr lang="en-US" dirty="0" smtClean="0"/>
              <a:t>Two main types:</a:t>
            </a:r>
          </a:p>
          <a:p>
            <a:pPr>
              <a:buNone/>
            </a:pPr>
            <a:r>
              <a:rPr lang="en-US" b="1" dirty="0" smtClean="0"/>
              <a:t>Outcome KPIs (Lagging)</a:t>
            </a:r>
            <a:r>
              <a:rPr lang="en-US" dirty="0" smtClean="0"/>
              <a:t> → Show results of past work.</a:t>
            </a:r>
          </a:p>
          <a:p>
            <a:pPr lvl="1">
              <a:buNone/>
            </a:pPr>
            <a:r>
              <a:rPr lang="en-US" dirty="0" smtClean="0"/>
              <a:t>Example: Revenue, Profit, Customer satisfaction.</a:t>
            </a:r>
          </a:p>
          <a:p>
            <a:pPr lvl="1">
              <a:buNone/>
            </a:pPr>
            <a:r>
              <a:rPr lang="en-US" dirty="0" smtClean="0"/>
              <a:t>Like an exam result card – shows what already happened.</a:t>
            </a:r>
          </a:p>
          <a:p>
            <a:pPr>
              <a:buNone/>
            </a:pPr>
            <a:r>
              <a:rPr lang="en-US" b="1" dirty="0" smtClean="0"/>
              <a:t>Driver KPIs (Leading)</a:t>
            </a:r>
            <a:r>
              <a:rPr lang="en-US" dirty="0" smtClean="0"/>
              <a:t> → Predict future results.</a:t>
            </a:r>
          </a:p>
          <a:p>
            <a:pPr lvl="1">
              <a:buNone/>
            </a:pPr>
            <a:r>
              <a:rPr lang="en-US" dirty="0" smtClean="0"/>
              <a:t>Example: Number of sales leads, On-time deliveries.</a:t>
            </a:r>
          </a:p>
          <a:p>
            <a:pPr lvl="1">
              <a:buNone/>
            </a:pPr>
            <a:r>
              <a:rPr lang="en-US" dirty="0" smtClean="0"/>
              <a:t>Like daily study hours – predict how exam results will be.</a:t>
            </a:r>
          </a:p>
          <a:p>
            <a:pPr>
              <a:buNone/>
            </a:pPr>
            <a:r>
              <a:rPr lang="en-US" dirty="0" smtClean="0"/>
              <a:t>👉 Together, they show both </a:t>
            </a:r>
            <a:r>
              <a:rPr lang="en-US" b="1" dirty="0" smtClean="0"/>
              <a:t>what happened</a:t>
            </a:r>
            <a:r>
              <a:rPr lang="en-US" dirty="0" smtClean="0"/>
              <a:t> and </a:t>
            </a:r>
            <a:r>
              <a:rPr lang="en-US" b="1" dirty="0" smtClean="0"/>
              <a:t>what will happen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/>
              <a:t>5.Operational </a:t>
            </a:r>
            <a:r>
              <a:rPr lang="en-US" b="1" dirty="0" smtClean="0"/>
              <a:t>Metrics (Everyday Activities)</a:t>
            </a:r>
          </a:p>
          <a:p>
            <a:pPr>
              <a:buNone/>
            </a:pPr>
            <a:r>
              <a:rPr lang="en-US" dirty="0" smtClean="0"/>
              <a:t>Companies also track day-to-day performance.</a:t>
            </a:r>
          </a:p>
          <a:p>
            <a:pPr>
              <a:buNone/>
            </a:pPr>
            <a:r>
              <a:rPr lang="en-US" dirty="0" smtClean="0"/>
              <a:t>Examples:</a:t>
            </a:r>
          </a:p>
          <a:p>
            <a:pPr>
              <a:buNone/>
            </a:pPr>
            <a:r>
              <a:rPr lang="en-US" b="1" dirty="0" smtClean="0"/>
              <a:t>Customer Performance</a:t>
            </a:r>
            <a:r>
              <a:rPr lang="en-US" dirty="0" smtClean="0"/>
              <a:t> → Satisfaction rating, Complaints solved quickly.</a:t>
            </a:r>
          </a:p>
          <a:p>
            <a:pPr>
              <a:buNone/>
            </a:pPr>
            <a:r>
              <a:rPr lang="en-US" b="1" dirty="0" smtClean="0"/>
              <a:t>Service Performance</a:t>
            </a:r>
            <a:r>
              <a:rPr lang="en-US" dirty="0" smtClean="0"/>
              <a:t> → Fast delivery, Low return rate.</a:t>
            </a:r>
          </a:p>
          <a:p>
            <a:pPr>
              <a:buNone/>
            </a:pPr>
            <a:r>
              <a:rPr lang="en-US" b="1" dirty="0" smtClean="0"/>
              <a:t>Sales Operations</a:t>
            </a:r>
            <a:r>
              <a:rPr lang="en-US" dirty="0" smtClean="0"/>
              <a:t> → Number of new leads, Deal closure time.</a:t>
            </a:r>
          </a:p>
          <a:p>
            <a:pPr>
              <a:buNone/>
            </a:pPr>
            <a:r>
              <a:rPr lang="en-US" b="1" dirty="0" smtClean="0"/>
              <a:t>Sales Forecasting</a:t>
            </a:r>
            <a:r>
              <a:rPr lang="en-US" dirty="0" smtClean="0"/>
              <a:t> → Accuracy of predicted sales vs. actual.</a:t>
            </a:r>
          </a:p>
          <a:p>
            <a:pPr>
              <a:buNone/>
            </a:pPr>
            <a:r>
              <a:rPr lang="en-US" dirty="0" smtClean="0"/>
              <a:t>⚡ Some of these become KPIs if they are </a:t>
            </a:r>
            <a:r>
              <a:rPr lang="en-US" b="1" dirty="0" smtClean="0"/>
              <a:t>linked to big goals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Balanced Scorecard (BSC)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The </a:t>
            </a:r>
            <a:r>
              <a:rPr lang="en-US" b="1" dirty="0" smtClean="0"/>
              <a:t>Balanced Scorecard (BSC)</a:t>
            </a:r>
            <a:r>
              <a:rPr lang="en-US" dirty="0" smtClean="0"/>
              <a:t> is a </a:t>
            </a:r>
            <a:r>
              <a:rPr lang="en-US" b="1" dirty="0" smtClean="0"/>
              <a:t>performance management system</a:t>
            </a:r>
            <a:r>
              <a:rPr lang="en-US" dirty="0" smtClean="0"/>
              <a:t>.</a:t>
            </a:r>
            <a:br>
              <a:rPr lang="en-US" dirty="0" smtClean="0"/>
            </a:br>
            <a:r>
              <a:rPr lang="en-US" dirty="0" smtClean="0"/>
              <a:t>👉 It helps companies </a:t>
            </a:r>
            <a:r>
              <a:rPr lang="en-US" b="1" dirty="0" smtClean="0"/>
              <a:t>translate their strategy into action</a:t>
            </a:r>
            <a:r>
              <a:rPr lang="en-US" dirty="0" smtClean="0"/>
              <a:t> by looking at 4 different perspectives (not just finance).</a:t>
            </a:r>
          </a:p>
          <a:p>
            <a:pPr>
              <a:buNone/>
            </a:pPr>
            <a:r>
              <a:rPr lang="en-US" dirty="0" smtClean="0"/>
              <a:t>Think of it like a </a:t>
            </a:r>
            <a:r>
              <a:rPr lang="en-US" b="1" dirty="0" smtClean="0"/>
              <a:t>report card for the whole company</a:t>
            </a:r>
            <a:r>
              <a:rPr lang="en-US" dirty="0" smtClean="0"/>
              <a:t>. Instead of just checking “marks in math” (finance), you also check other subjects (customers, processes, learning).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sz="3400" b="1" dirty="0" smtClean="0"/>
              <a:t>The Four Perspectives of BSC</a:t>
            </a:r>
          </a:p>
          <a:p>
            <a:pPr>
              <a:buNone/>
            </a:pPr>
            <a:r>
              <a:rPr lang="en-US" sz="3400" b="1" dirty="0" smtClean="0"/>
              <a:t>1. Customer Perspective – “What do our customers think about us?”</a:t>
            </a:r>
          </a:p>
          <a:p>
            <a:pPr>
              <a:buNone/>
            </a:pPr>
            <a:r>
              <a:rPr lang="en-US" sz="3400" dirty="0" smtClean="0"/>
              <a:t>Focus: Customer satisfaction, loyalty, and experience.</a:t>
            </a:r>
          </a:p>
          <a:p>
            <a:pPr>
              <a:buNone/>
            </a:pPr>
            <a:r>
              <a:rPr lang="en-US" sz="3400" dirty="0" smtClean="0"/>
              <a:t>Example:</a:t>
            </a:r>
          </a:p>
          <a:p>
            <a:pPr lvl="1">
              <a:buNone/>
            </a:pPr>
            <a:r>
              <a:rPr lang="en-US" sz="3400" dirty="0" smtClean="0"/>
              <a:t>If you run a </a:t>
            </a:r>
            <a:r>
              <a:rPr lang="en-US" sz="3400" b="1" dirty="0" smtClean="0"/>
              <a:t>supermarket</a:t>
            </a:r>
            <a:r>
              <a:rPr lang="en-US" sz="3400" dirty="0" smtClean="0"/>
              <a:t>, you ask:</a:t>
            </a:r>
          </a:p>
          <a:p>
            <a:pPr lvl="2">
              <a:buNone/>
            </a:pPr>
            <a:r>
              <a:rPr lang="en-US" sz="2600" dirty="0" smtClean="0"/>
              <a:t>Are customers happy with product quality?</a:t>
            </a:r>
          </a:p>
          <a:p>
            <a:pPr lvl="2">
              <a:buNone/>
            </a:pPr>
            <a:r>
              <a:rPr lang="en-US" sz="2600" dirty="0" smtClean="0"/>
              <a:t>Do they come back regularly?</a:t>
            </a:r>
          </a:p>
          <a:p>
            <a:pPr lvl="1">
              <a:buNone/>
            </a:pPr>
            <a:r>
              <a:rPr lang="en-US" sz="3400" dirty="0" smtClean="0"/>
              <a:t>KPI: Customer satisfaction survey (1–5 stars), customer retention rate.</a:t>
            </a:r>
          </a:p>
          <a:p>
            <a:pPr>
              <a:buNone/>
            </a:pPr>
            <a:r>
              <a:rPr lang="en-US" sz="3400" b="1" dirty="0" smtClean="0"/>
              <a:t>2. Financial Perspective – “Are we making money?”</a:t>
            </a:r>
          </a:p>
          <a:p>
            <a:pPr>
              <a:buNone/>
            </a:pPr>
            <a:r>
              <a:rPr lang="en-US" sz="3400" dirty="0" smtClean="0"/>
              <a:t>Focus: Revenue, profit, cost savings.</a:t>
            </a:r>
          </a:p>
          <a:p>
            <a:pPr>
              <a:buNone/>
            </a:pPr>
            <a:r>
              <a:rPr lang="en-US" sz="3400" dirty="0" smtClean="0"/>
              <a:t>Example:</a:t>
            </a:r>
          </a:p>
          <a:p>
            <a:pPr lvl="1">
              <a:buNone/>
            </a:pPr>
            <a:r>
              <a:rPr lang="en-US" sz="3400" dirty="0" smtClean="0"/>
              <a:t>In the </a:t>
            </a:r>
            <a:r>
              <a:rPr lang="en-US" sz="3400" b="1" dirty="0" smtClean="0"/>
              <a:t>supermarket</a:t>
            </a:r>
            <a:r>
              <a:rPr lang="en-US" sz="3400" dirty="0" smtClean="0"/>
              <a:t>, you track:</a:t>
            </a:r>
          </a:p>
          <a:p>
            <a:pPr lvl="2">
              <a:buNone/>
            </a:pPr>
            <a:r>
              <a:rPr lang="en-US" sz="2600" dirty="0" smtClean="0"/>
              <a:t>Monthly sales growth.</a:t>
            </a:r>
          </a:p>
          <a:p>
            <a:pPr lvl="2">
              <a:buNone/>
            </a:pPr>
            <a:r>
              <a:rPr lang="en-US" sz="2600" dirty="0" smtClean="0"/>
              <a:t>Net profit margins.</a:t>
            </a:r>
          </a:p>
          <a:p>
            <a:pPr lvl="1">
              <a:buNone/>
            </a:pPr>
            <a:r>
              <a:rPr lang="en-US" sz="3400" dirty="0" smtClean="0"/>
              <a:t>KPI: Increase net income by 15%.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smtClean="0"/>
              <a:t>3. Internal Business Process Perspective – “Are our processes running smoothly?”</a:t>
            </a:r>
          </a:p>
          <a:p>
            <a:pPr>
              <a:buNone/>
            </a:pPr>
            <a:r>
              <a:rPr lang="en-US" dirty="0" smtClean="0"/>
              <a:t>Focus: How well the company runs its daily operations.</a:t>
            </a:r>
          </a:p>
          <a:p>
            <a:pPr>
              <a:buNone/>
            </a:pPr>
            <a:r>
              <a:rPr lang="en-US" dirty="0" smtClean="0"/>
              <a:t>Example:</a:t>
            </a:r>
          </a:p>
          <a:p>
            <a:pPr lvl="1">
              <a:buNone/>
            </a:pPr>
            <a:r>
              <a:rPr lang="en-US" dirty="0" smtClean="0"/>
              <a:t>In the </a:t>
            </a:r>
            <a:r>
              <a:rPr lang="en-US" b="1" dirty="0" smtClean="0"/>
              <a:t>supermarket</a:t>
            </a:r>
            <a:r>
              <a:rPr lang="en-US" dirty="0" smtClean="0"/>
              <a:t>:</a:t>
            </a:r>
          </a:p>
          <a:p>
            <a:pPr lvl="2">
              <a:buNone/>
            </a:pPr>
            <a:r>
              <a:rPr lang="en-US" dirty="0" smtClean="0"/>
              <a:t>Checkout speed at billing counters.</a:t>
            </a:r>
          </a:p>
          <a:p>
            <a:pPr lvl="2">
              <a:buNone/>
            </a:pPr>
            <a:r>
              <a:rPr lang="en-US" dirty="0" smtClean="0"/>
              <a:t>Inventory management (no stock-outs).</a:t>
            </a:r>
          </a:p>
          <a:p>
            <a:pPr lvl="1">
              <a:buNone/>
            </a:pPr>
            <a:r>
              <a:rPr lang="en-US" dirty="0" smtClean="0"/>
              <a:t>KPI: Reduce average checkout time from 5 minutes → 2 minutes.</a:t>
            </a:r>
          </a:p>
          <a:p>
            <a:pPr>
              <a:buNone/>
            </a:pPr>
            <a:r>
              <a:rPr lang="en-US" b="1" dirty="0" smtClean="0"/>
              <a:t>4. Learning &amp; Growth Perspective – “Are we improving for the future?”</a:t>
            </a:r>
          </a:p>
          <a:p>
            <a:pPr>
              <a:buNone/>
            </a:pPr>
            <a:r>
              <a:rPr lang="en-US" dirty="0" smtClean="0"/>
              <a:t>Focus: Employee skills, innovation, technology, culture.</a:t>
            </a:r>
          </a:p>
          <a:p>
            <a:pPr>
              <a:buNone/>
            </a:pPr>
            <a:r>
              <a:rPr lang="en-US" dirty="0" smtClean="0"/>
              <a:t>Example:</a:t>
            </a:r>
          </a:p>
          <a:p>
            <a:pPr lvl="1">
              <a:buNone/>
            </a:pPr>
            <a:r>
              <a:rPr lang="en-US" dirty="0" smtClean="0"/>
              <a:t>In the </a:t>
            </a:r>
            <a:r>
              <a:rPr lang="en-US" b="1" dirty="0" smtClean="0"/>
              <a:t>supermarket</a:t>
            </a:r>
            <a:r>
              <a:rPr lang="en-US" dirty="0" smtClean="0"/>
              <a:t>:</a:t>
            </a:r>
          </a:p>
          <a:p>
            <a:pPr lvl="2">
              <a:buNone/>
            </a:pPr>
            <a:r>
              <a:rPr lang="en-US" dirty="0" smtClean="0"/>
              <a:t>Train employees on customer service.</a:t>
            </a:r>
          </a:p>
          <a:p>
            <a:pPr lvl="2">
              <a:buNone/>
            </a:pPr>
            <a:r>
              <a:rPr lang="en-US" dirty="0" smtClean="0"/>
              <a:t>Use AI-based demand forecasting.</a:t>
            </a:r>
          </a:p>
          <a:p>
            <a:pPr lvl="1">
              <a:buNone/>
            </a:pPr>
            <a:r>
              <a:rPr lang="en-US" dirty="0" smtClean="0"/>
              <a:t>KPI: Train 80% of staff in customer service skills.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Balanced Scorecard vs. Dashboard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dirty="0" smtClean="0"/>
              <a:t>Dashboards = “What’s happening now?” (Operational monitoring)</a:t>
            </a:r>
          </a:p>
          <a:p>
            <a:pPr>
              <a:buNone/>
            </a:pPr>
            <a:r>
              <a:rPr lang="en-US" dirty="0" smtClean="0"/>
              <a:t>Scorecards = “Are we meeting our goals?” (Strategic goal tracking)</a:t>
            </a:r>
          </a:p>
          <a:p>
            <a:pPr>
              <a:buNone/>
            </a:pPr>
            <a:r>
              <a:rPr lang="en-US" b="1" dirty="0" smtClean="0"/>
              <a:t>Example :</a:t>
            </a:r>
            <a:r>
              <a:rPr lang="en-US" b="1" dirty="0" smtClean="0"/>
              <a:t> </a:t>
            </a:r>
            <a:r>
              <a:rPr lang="en-US" b="1" dirty="0" smtClean="0"/>
              <a:t>Supermarket</a:t>
            </a:r>
          </a:p>
          <a:p>
            <a:pPr>
              <a:buNone/>
            </a:pPr>
            <a:r>
              <a:rPr lang="en-US" b="1" dirty="0" smtClean="0"/>
              <a:t>Scorecard (Strategic)</a:t>
            </a:r>
            <a:endParaRPr lang="en-US" dirty="0" smtClean="0"/>
          </a:p>
          <a:p>
            <a:pPr lvl="1">
              <a:buNone/>
            </a:pPr>
            <a:r>
              <a:rPr lang="en-US" dirty="0" smtClean="0"/>
              <a:t>Goal: Become the most preferred supermarket in the city in 3 years.</a:t>
            </a:r>
          </a:p>
          <a:p>
            <a:pPr lvl="1">
              <a:buNone/>
            </a:pPr>
            <a:r>
              <a:rPr lang="en-US" dirty="0" smtClean="0"/>
              <a:t>Measures:</a:t>
            </a:r>
          </a:p>
          <a:p>
            <a:pPr lvl="2">
              <a:buNone/>
            </a:pPr>
            <a:r>
              <a:rPr lang="en-US" dirty="0" smtClean="0"/>
              <a:t>Customer satisfaction survey (Customer perspective)</a:t>
            </a:r>
          </a:p>
          <a:p>
            <a:pPr lvl="2">
              <a:buNone/>
            </a:pPr>
            <a:r>
              <a:rPr lang="en-US" dirty="0" smtClean="0"/>
              <a:t>Annual profit margin (Financial perspective)</a:t>
            </a:r>
          </a:p>
          <a:p>
            <a:pPr lvl="2">
              <a:buNone/>
            </a:pPr>
            <a:r>
              <a:rPr lang="en-US" dirty="0" smtClean="0"/>
              <a:t>Employee training hours (Learning &amp; Growth perspective)</a:t>
            </a:r>
          </a:p>
          <a:p>
            <a:pPr lvl="2">
              <a:buNone/>
            </a:pPr>
            <a:r>
              <a:rPr lang="en-US" dirty="0" smtClean="0"/>
              <a:t>Supply chain efficiency (Internal process)</a:t>
            </a:r>
          </a:p>
          <a:p>
            <a:pPr lvl="1">
              <a:buNone/>
            </a:pPr>
            <a:r>
              <a:rPr lang="en-US" dirty="0" smtClean="0"/>
              <a:t>Checked </a:t>
            </a:r>
            <a:r>
              <a:rPr lang="en-US" b="1" dirty="0" smtClean="0"/>
              <a:t>monthly/quarterly</a:t>
            </a:r>
            <a:r>
              <a:rPr lang="en-US" dirty="0" smtClean="0"/>
              <a:t> → “Are we moving toward market leadership?”</a:t>
            </a:r>
          </a:p>
          <a:p>
            <a:pPr>
              <a:buNone/>
            </a:pPr>
            <a:r>
              <a:rPr lang="en-US" b="1" dirty="0" smtClean="0"/>
              <a:t>Dashboard (Operational)</a:t>
            </a:r>
            <a:endParaRPr lang="en-US" dirty="0" smtClean="0"/>
          </a:p>
          <a:p>
            <a:pPr lvl="1">
              <a:buNone/>
            </a:pPr>
            <a:r>
              <a:rPr lang="en-US" dirty="0" smtClean="0"/>
              <a:t>Today’s sales by department (fruits, dairy, bakery)</a:t>
            </a:r>
          </a:p>
          <a:p>
            <a:pPr lvl="1">
              <a:buNone/>
            </a:pPr>
            <a:r>
              <a:rPr lang="en-US" dirty="0" smtClean="0"/>
              <a:t>Number of customers in the store </a:t>
            </a:r>
            <a:r>
              <a:rPr lang="en-US" b="1" dirty="0" smtClean="0"/>
              <a:t>right now</a:t>
            </a:r>
            <a:endParaRPr lang="en-US" dirty="0" smtClean="0"/>
          </a:p>
          <a:p>
            <a:pPr lvl="1">
              <a:buNone/>
            </a:pPr>
            <a:r>
              <a:rPr lang="en-US" dirty="0" smtClean="0"/>
              <a:t>Inventory level of milk (e.g., only 20 packs left)</a:t>
            </a:r>
          </a:p>
          <a:p>
            <a:pPr lvl="1">
              <a:buNone/>
            </a:pPr>
            <a:r>
              <a:rPr lang="en-US" dirty="0" smtClean="0"/>
              <a:t>Number of checkout counters currently open</a:t>
            </a:r>
          </a:p>
          <a:p>
            <a:pPr lvl="1">
              <a:buNone/>
            </a:pPr>
            <a:r>
              <a:rPr lang="en-US" dirty="0" smtClean="0"/>
              <a:t>Checked </a:t>
            </a:r>
            <a:r>
              <a:rPr lang="en-US" b="1" dirty="0" smtClean="0"/>
              <a:t>hourly/daily</a:t>
            </a:r>
            <a:r>
              <a:rPr lang="en-US" dirty="0" smtClean="0"/>
              <a:t> → “Do we need to restock milk today?”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Six Sigma as a Performance Measurement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smtClean="0"/>
              <a:t>What does Six Sigma mean?</a:t>
            </a:r>
          </a:p>
          <a:p>
            <a:pPr>
              <a:buNone/>
            </a:pPr>
            <a:r>
              <a:rPr lang="en-US" b="1" dirty="0" smtClean="0"/>
              <a:t>Sigma (σ)</a:t>
            </a:r>
            <a:r>
              <a:rPr lang="en-US" dirty="0" smtClean="0"/>
              <a:t> = Statistical term → shows how much errors/variations exist in a process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Six Sigma = Method to reduce errors in business processes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b="1" dirty="0" smtClean="0"/>
              <a:t>Six Sigma goal</a:t>
            </a:r>
            <a:r>
              <a:rPr lang="en-US" dirty="0" smtClean="0"/>
              <a:t> = Almost zero defects (only </a:t>
            </a:r>
            <a:r>
              <a:rPr lang="en-US" b="1" dirty="0" smtClean="0"/>
              <a:t>3.4 errors per 1 million opportunities</a:t>
            </a:r>
            <a:r>
              <a:rPr lang="en-US" dirty="0" smtClean="0"/>
              <a:t>).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Example (Insurance Company):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They process </a:t>
            </a:r>
            <a:r>
              <a:rPr lang="en-US" b="1" dirty="0" smtClean="0"/>
              <a:t>1 million claims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Normal way (3–4 Sigma): 6,200–67,000 claims have errors.</a:t>
            </a:r>
          </a:p>
          <a:p>
            <a:pPr>
              <a:buNone/>
            </a:pPr>
            <a:r>
              <a:rPr lang="en-US" dirty="0" smtClean="0"/>
              <a:t>Six Sigma way: Only </a:t>
            </a:r>
            <a:r>
              <a:rPr lang="en-US" b="1" dirty="0" smtClean="0"/>
              <a:t>3–4 claims have errors</a:t>
            </a:r>
            <a:r>
              <a:rPr lang="en-US" dirty="0" smtClean="0"/>
              <a:t>.</a:t>
            </a:r>
            <a:br>
              <a:rPr lang="en-US" dirty="0" smtClean="0"/>
            </a:br>
            <a:r>
              <a:rPr lang="en-US" dirty="0" smtClean="0"/>
              <a:t>👉 This makes customers happier and saves money.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/>
              <a:t>How Six Sigma works? (DMAIC Model)</a:t>
            </a:r>
          </a:p>
          <a:p>
            <a:pPr>
              <a:buNone/>
            </a:pPr>
            <a:r>
              <a:rPr lang="en-US" dirty="0" smtClean="0"/>
              <a:t>Six Sigma uses a performance improvement model called </a:t>
            </a:r>
            <a:r>
              <a:rPr lang="en-US" b="1" dirty="0" smtClean="0"/>
              <a:t>DMAIC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b="1" dirty="0" smtClean="0"/>
              <a:t>Define</a:t>
            </a:r>
            <a:r>
              <a:rPr lang="en-US" dirty="0" smtClean="0"/>
              <a:t> – Set goals.</a:t>
            </a:r>
          </a:p>
          <a:p>
            <a:pPr lvl="1">
              <a:buNone/>
            </a:pPr>
            <a:r>
              <a:rPr lang="en-US" dirty="0" smtClean="0"/>
              <a:t>Supermarket wants to </a:t>
            </a:r>
            <a:r>
              <a:rPr lang="en-US" b="1" dirty="0" smtClean="0"/>
              <a:t>reduce waiting time at checkout counters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b="1" dirty="0" smtClean="0"/>
              <a:t>Measure</a:t>
            </a:r>
            <a:r>
              <a:rPr lang="en-US" dirty="0" smtClean="0"/>
              <a:t> – Collect current performance data.</a:t>
            </a:r>
          </a:p>
          <a:p>
            <a:pPr lvl="1">
              <a:buNone/>
            </a:pPr>
            <a:r>
              <a:rPr lang="en-US" dirty="0" smtClean="0"/>
              <a:t>Current waiting time = </a:t>
            </a:r>
            <a:r>
              <a:rPr lang="en-US" b="1" dirty="0" smtClean="0"/>
              <a:t>8 minutes average</a:t>
            </a:r>
            <a:r>
              <a:rPr lang="en-US" dirty="0" smtClean="0"/>
              <a:t> during peak hours.</a:t>
            </a:r>
          </a:p>
          <a:p>
            <a:pPr>
              <a:buNone/>
            </a:pPr>
            <a:r>
              <a:rPr lang="en-US" b="1" dirty="0" smtClean="0"/>
              <a:t>Analyze</a:t>
            </a:r>
            <a:r>
              <a:rPr lang="en-US" dirty="0" smtClean="0"/>
              <a:t> – Find the root cause of the problem.</a:t>
            </a:r>
          </a:p>
          <a:p>
            <a:pPr lvl="1">
              <a:buNone/>
            </a:pPr>
            <a:r>
              <a:rPr lang="en-US" dirty="0" smtClean="0"/>
              <a:t>Long queues because </a:t>
            </a:r>
            <a:r>
              <a:rPr lang="en-US" b="1" dirty="0" smtClean="0"/>
              <a:t>only 4 counters are open during peak time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b="1" dirty="0" smtClean="0"/>
              <a:t>Improve</a:t>
            </a:r>
            <a:r>
              <a:rPr lang="en-US" dirty="0" smtClean="0"/>
              <a:t> – Implement solutions.</a:t>
            </a:r>
          </a:p>
          <a:p>
            <a:pPr lvl="1">
              <a:buNone/>
            </a:pPr>
            <a:r>
              <a:rPr lang="en-US" dirty="0" smtClean="0"/>
              <a:t>Open 2 more counters in peak hours.</a:t>
            </a:r>
          </a:p>
          <a:p>
            <a:pPr lvl="1">
              <a:buNone/>
            </a:pPr>
            <a:r>
              <a:rPr lang="en-US" dirty="0" smtClean="0"/>
              <a:t>Introduce </a:t>
            </a:r>
            <a:r>
              <a:rPr lang="en-US" b="1" dirty="0" smtClean="0"/>
              <a:t>se</a:t>
            </a:r>
          </a:p>
          <a:p>
            <a:pPr lvl="1">
              <a:buNone/>
            </a:pPr>
            <a:r>
              <a:rPr lang="en-US" b="1" dirty="0" smtClean="0"/>
              <a:t>lf-checkout </a:t>
            </a:r>
            <a:r>
              <a:rPr lang="en-US" b="1" dirty="0" smtClean="0"/>
              <a:t>machines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b="1" dirty="0" smtClean="0"/>
              <a:t>Control</a:t>
            </a:r>
            <a:r>
              <a:rPr lang="en-US" dirty="0" smtClean="0"/>
              <a:t> – Make sure the improvements stay permanent.</a:t>
            </a:r>
          </a:p>
          <a:p>
            <a:pPr lvl="1">
              <a:buNone/>
            </a:pPr>
            <a:r>
              <a:rPr lang="en-US" dirty="0" smtClean="0"/>
              <a:t>Policy: Always keep at least 6 counters open from 5 PM–9 PM.</a:t>
            </a:r>
          </a:p>
          <a:p>
            <a:pPr lvl="1">
              <a:buNone/>
            </a:pPr>
            <a:r>
              <a:rPr lang="en-US" dirty="0" smtClean="0"/>
              <a:t>Track waiting time daily (target ≤ </a:t>
            </a:r>
            <a:r>
              <a:rPr lang="en-US" b="1" dirty="0" smtClean="0"/>
              <a:t>3 minutes</a:t>
            </a:r>
            <a:r>
              <a:rPr lang="en-US" dirty="0" smtClean="0"/>
              <a:t>).</a:t>
            </a:r>
            <a:endParaRPr lang="en-US" dirty="0" smtClean="0"/>
          </a:p>
          <a:p>
            <a:pPr lvl="1">
              <a:buNone/>
            </a:pPr>
            <a:r>
              <a:rPr lang="en-US" b="1" dirty="0" smtClean="0"/>
              <a:t>Result</a:t>
            </a:r>
            <a:r>
              <a:rPr lang="en-US" b="1" dirty="0" smtClean="0"/>
              <a:t>: </a:t>
            </a:r>
            <a:r>
              <a:rPr lang="en-US" dirty="0" smtClean="0"/>
              <a:t>Errors reduced, waiting time cut in half, customer satisfaction improved.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Balanced </a:t>
            </a:r>
            <a:r>
              <a:rPr lang="en-US" b="1" dirty="0" smtClean="0"/>
              <a:t>Scorecard VS </a:t>
            </a:r>
            <a:r>
              <a:rPr lang="en-US" b="1" dirty="0" smtClean="0"/>
              <a:t>Six Sigma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smtClean="0"/>
              <a:t>Balanced Scorecard in a Supermarket: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Financial: Increase profit by 10% in one year.</a:t>
            </a:r>
          </a:p>
          <a:p>
            <a:pPr>
              <a:buNone/>
            </a:pPr>
            <a:r>
              <a:rPr lang="en-US" dirty="0" smtClean="0"/>
              <a:t>Customer: Improve satisfaction score from 80% → 90%.</a:t>
            </a:r>
          </a:p>
          <a:p>
            <a:pPr>
              <a:buNone/>
            </a:pPr>
            <a:r>
              <a:rPr lang="en-US" dirty="0" smtClean="0"/>
              <a:t>Internal Process: Ensure supply chain delivers stock on time.</a:t>
            </a:r>
          </a:p>
          <a:p>
            <a:pPr>
              <a:buNone/>
            </a:pPr>
            <a:r>
              <a:rPr lang="en-US" dirty="0" smtClean="0"/>
              <a:t>Learning &amp; Growth: Train 100% of staff in customer service.</a:t>
            </a:r>
          </a:p>
          <a:p>
            <a:pPr>
              <a:buNone/>
            </a:pPr>
            <a:r>
              <a:rPr lang="en-US" b="1" dirty="0" smtClean="0"/>
              <a:t>Six Sigma in a Supermarket: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Reduce </a:t>
            </a:r>
            <a:r>
              <a:rPr lang="en-US" b="1" dirty="0" smtClean="0"/>
              <a:t>billing mistakes</a:t>
            </a:r>
            <a:r>
              <a:rPr lang="en-US" dirty="0" smtClean="0"/>
              <a:t> from 500 per month → &lt;10 per month.</a:t>
            </a:r>
          </a:p>
          <a:p>
            <a:pPr>
              <a:buNone/>
            </a:pPr>
            <a:r>
              <a:rPr lang="en-US" dirty="0" smtClean="0"/>
              <a:t>Cut </a:t>
            </a:r>
            <a:r>
              <a:rPr lang="en-US" b="1" dirty="0" smtClean="0"/>
              <a:t>checkout waiting time</a:t>
            </a:r>
            <a:r>
              <a:rPr lang="en-US" dirty="0" smtClean="0"/>
              <a:t> from 8 minutes → 3 minutes.</a:t>
            </a:r>
          </a:p>
          <a:p>
            <a:pPr>
              <a:buNone/>
            </a:pPr>
            <a:r>
              <a:rPr lang="en-US" dirty="0" smtClean="0"/>
              <a:t>Reduce </a:t>
            </a:r>
            <a:r>
              <a:rPr lang="en-US" b="1" dirty="0" smtClean="0"/>
              <a:t>inventory errors</a:t>
            </a:r>
            <a:r>
              <a:rPr lang="en-US" dirty="0" smtClean="0"/>
              <a:t> from 1,000 items/month → &lt;50 items/month.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3795</Words>
  <Application>Microsoft Office PowerPoint</Application>
  <PresentationFormat>On-screen Show (4:3)</PresentationFormat>
  <Paragraphs>533</Paragraphs>
  <Slides>49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0" baseType="lpstr">
      <vt:lpstr>Office Theme</vt:lpstr>
      <vt:lpstr>Unit-2</vt:lpstr>
      <vt:lpstr>Business Report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Components of the Business Reporting System</vt:lpstr>
      <vt:lpstr>Slide 13</vt:lpstr>
      <vt:lpstr>Slide 14</vt:lpstr>
      <vt:lpstr>Slide 15</vt:lpstr>
      <vt:lpstr>Slide 16</vt:lpstr>
      <vt:lpstr>Slide 17</vt:lpstr>
      <vt:lpstr>  Different Types of Charts and Graphs  </vt:lpstr>
      <vt:lpstr>Slide 19</vt:lpstr>
      <vt:lpstr>Slide 20</vt:lpstr>
      <vt:lpstr>Slide 21</vt:lpstr>
      <vt:lpstr>Emergence of Data Visualization &amp; Visual Analytics</vt:lpstr>
      <vt:lpstr>Slide 23</vt:lpstr>
      <vt:lpstr>Slide 24</vt:lpstr>
      <vt:lpstr>Slide 25</vt:lpstr>
      <vt:lpstr>Slide 26</vt:lpstr>
      <vt:lpstr>Performance Dashboard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Closed-Loop BPM Cycle</vt:lpstr>
      <vt:lpstr>Slide 36</vt:lpstr>
      <vt:lpstr>Slide 37</vt:lpstr>
      <vt:lpstr>Performance Measurement in BPM </vt:lpstr>
      <vt:lpstr>Slide 39</vt:lpstr>
      <vt:lpstr>Slide 40</vt:lpstr>
      <vt:lpstr>Slide 41</vt:lpstr>
      <vt:lpstr>Slide 42</vt:lpstr>
      <vt:lpstr>Balanced Scorecard (BSC)</vt:lpstr>
      <vt:lpstr>Slide 44</vt:lpstr>
      <vt:lpstr>Slide 45</vt:lpstr>
      <vt:lpstr>Balanced Scorecard vs. Dashboard</vt:lpstr>
      <vt:lpstr>Six Sigma as a Performance Measurement System</vt:lpstr>
      <vt:lpstr>Slide 48</vt:lpstr>
      <vt:lpstr>Balanced Scorecard VS Six Sigma </vt:lpstr>
    </vt:vector>
  </TitlesOfParts>
  <Company>by adguard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Unit-2</dc:title>
  <dc:creator>User</dc:creator>
  <cp:lastModifiedBy>User</cp:lastModifiedBy>
  <cp:revision>66</cp:revision>
  <dcterms:created xsi:type="dcterms:W3CDTF">2025-08-18T15:44:25Z</dcterms:created>
  <dcterms:modified xsi:type="dcterms:W3CDTF">2025-08-21T17:00:10Z</dcterms:modified>
</cp:coreProperties>
</file>